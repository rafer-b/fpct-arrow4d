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6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640080"/>
            <a:ext cx="1920240" cy="1920240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2194560"/>
            <a:ext cx="1143000" cy="1143000"/>
          </a:xfrm>
          <a:prstGeom prst="ellipse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108960"/>
            <a:ext cx="594360" cy="594360"/>
          </a:xfrm>
          <a:prstGeom prst="ellipse">
            <a:avLst/>
          </a:prstGeom>
          <a:solidFill>
            <a:srgbClr val="F5B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49840" y="4114800"/>
            <a:ext cx="1554480" cy="1554480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7132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2AA9A1"/>
                </a:solidFill>
                <a:latin typeface="Aptos"/>
              </a:rPr>
              <a:t>APRESENTAÇÃO DO PROJETO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749807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Aptos"/>
              </a:rPr>
              <a:t>TaskFlow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0">
                <a:solidFill>
                  <a:srgbClr val="FFFFFF"/>
                </a:solidFill>
                <a:latin typeface="Aptos"/>
              </a:rPr>
              <a:t>Gestão de Projetos e Tarefas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69080"/>
            <a:ext cx="6400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>
                <a:solidFill>
                  <a:srgbClr val="DCE4F0"/>
                </a:solidFill>
                <a:latin typeface="Aptos"/>
              </a:rPr>
              <a:t>Uma solução para planear atividades, acompanhar tarefas e trabalhar com mais organização.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1264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ECDE1"/>
                </a:solidFill>
                <a:latin typeface="Aptos"/>
              </a:rPr>
              <a:t>Definição do projeto • Objeto • Objetivos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>
                <a:solidFill>
                  <a:srgbClr val="182642"/>
                </a:solidFill>
                <a:latin typeface="Aptos"/>
              </a:rPr>
              <a:t>1. O que é um projeto?</a:t>
            </a:r>
          </a:p>
        </p:txBody>
      </p:sp>
      <p:sp>
        <p:nvSpPr>
          <p:cNvPr id="3" name="Rectangle 2"/>
          <p:cNvSpPr/>
          <p:nvPr/>
        </p:nvSpPr>
        <p:spPr>
          <a:xfrm>
            <a:off x="704088" y="1051560"/>
            <a:ext cx="777240" cy="64008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6187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647182"/>
                </a:solidFill>
                <a:latin typeface="Aptos"/>
              </a:rPr>
              <a:t>Uma definição simples e aplicada ao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64008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182642"/>
                </a:solidFill>
                <a:latin typeface="Aptos"/>
              </a:rPr>
              <a:t>Um projeto é um conjunto de atividades planeadas e organizadas para alcançar um resultado específico, dentro de um prazo e com os recursos disponíveis.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828800"/>
            <a:ext cx="3474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48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3669BE"/>
                </a:solidFill>
                <a:latin typeface="Aptos"/>
              </a:rPr>
              <a:t>Tem um 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441448"/>
            <a:ext cx="2743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D3644"/>
                </a:solidFill>
                <a:latin typeface="Aptos"/>
              </a:rPr>
              <a:t>Define o que se pretende alcançar.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0175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3669BE"/>
                </a:solidFill>
                <a:latin typeface="Aptos"/>
              </a:rPr>
              <a:t>Tem um prazo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310127"/>
            <a:ext cx="2743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D3644"/>
                </a:solidFill>
                <a:latin typeface="Aptos"/>
              </a:rPr>
              <a:t>Possui início e fim previstos.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886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3669BE"/>
                </a:solidFill>
                <a:latin typeface="Aptos"/>
              </a:rPr>
              <a:t>Exige organização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178808"/>
            <a:ext cx="2743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D3644"/>
                </a:solidFill>
                <a:latin typeface="Aptos"/>
              </a:rPr>
              <a:t>Inclui tarefas, pessoas e recursos.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6126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>
                <a:solidFill>
                  <a:srgbClr val="647182"/>
                </a:solidFill>
                <a:latin typeface="Aptos"/>
              </a:rPr>
              <a:t>Exemplo: desenvolver uma aplicação para ajudar uma equipa a organizar o seu trabalho.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47182"/>
                </a:solidFill>
                <a:latin typeface="Aptos"/>
              </a:rPr>
              <a:t>TASKFLOW  |  Gestão de Projetos e Tarefas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18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>
                <a:solidFill>
                  <a:srgbClr val="182642"/>
                </a:solidFill>
                <a:latin typeface="Aptos"/>
              </a:rPr>
              <a:t>2. Elementos principais de um projeto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04088" y="1051560"/>
            <a:ext cx="777240" cy="64008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6187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647182"/>
                </a:solidFill>
                <a:latin typeface="Aptos"/>
              </a:rPr>
              <a:t>O que é necessário definir antes de começar?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06324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029968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3669BE"/>
                </a:solidFill>
                <a:latin typeface="Aptos"/>
              </a:rPr>
              <a:t>Objetivo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32304"/>
            <a:ext cx="2651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2D3644"/>
                </a:solidFill>
                <a:latin typeface="Aptos"/>
              </a:rPr>
              <a:t>O resultado que se quer alcançar.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828800"/>
            <a:ext cx="306324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2029968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3669BE"/>
                </a:solidFill>
                <a:latin typeface="Aptos"/>
              </a:rPr>
              <a:t>Tarefas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2432304"/>
            <a:ext cx="2651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2D3644"/>
                </a:solidFill>
                <a:latin typeface="Aptos"/>
              </a:rPr>
              <a:t>As atividades necessárias para chegar ao resultado.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828800"/>
            <a:ext cx="306324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8" y="2029968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3669BE"/>
                </a:solidFill>
                <a:latin typeface="Aptos"/>
              </a:rPr>
              <a:t>Prazo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8" y="2432304"/>
            <a:ext cx="2651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2D3644"/>
                </a:solidFill>
                <a:latin typeface="Aptos"/>
              </a:rPr>
              <a:t>O tempo disponível para concluir o trabalho.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94760"/>
            <a:ext cx="306324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995928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3669BE"/>
                </a:solidFill>
                <a:latin typeface="Aptos"/>
              </a:rPr>
              <a:t>Recursos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398264"/>
            <a:ext cx="2651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2D3644"/>
                </a:solidFill>
                <a:latin typeface="Aptos"/>
              </a:rPr>
              <a:t>Pessoas, ferramentas e orçamento disponíveis.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794760"/>
            <a:ext cx="306324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3995928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3669BE"/>
                </a:solidFill>
                <a:latin typeface="Aptos"/>
              </a:rPr>
              <a:t>Responsáveis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4398264"/>
            <a:ext cx="2651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2D3644"/>
                </a:solidFill>
                <a:latin typeface="Aptos"/>
              </a:rPr>
              <a:t>Quem executa ou acompanha cada atividade.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3794760"/>
            <a:ext cx="306324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82128" y="3995928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3669BE"/>
                </a:solidFill>
                <a:latin typeface="Aptos"/>
              </a:rPr>
              <a:t>Acompanhamento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8" y="4398264"/>
            <a:ext cx="2651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2D3644"/>
                </a:solidFill>
                <a:latin typeface="Aptos"/>
              </a:rPr>
              <a:t>Verificar o progresso e corrigir atrasos.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47182"/>
                </a:solidFill>
                <a:latin typeface="Aptos"/>
              </a:rPr>
              <a:t>TASKFLOW  |  Gestão de Projetos e Tarefas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18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>
                <a:solidFill>
                  <a:srgbClr val="182642"/>
                </a:solidFill>
                <a:latin typeface="Aptos"/>
              </a:rPr>
              <a:t>3. Qual é o objeto do projeto?</a:t>
            </a:r>
          </a:p>
        </p:txBody>
      </p:sp>
      <p:sp>
        <p:nvSpPr>
          <p:cNvPr id="3" name="Rectangle 2"/>
          <p:cNvSpPr/>
          <p:nvPr/>
        </p:nvSpPr>
        <p:spPr>
          <a:xfrm>
            <a:off x="704088" y="1051560"/>
            <a:ext cx="777240" cy="64008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6187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647182"/>
                </a:solidFill>
                <a:latin typeface="Aptos"/>
              </a:rPr>
              <a:t>O objeto identifica aquilo em que o projeto se vai concentrar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182642"/>
                </a:solidFill>
                <a:latin typeface="Aptos"/>
              </a:rPr>
              <a:t>O objeto do projeto é o produto, serviço ou solução que se pretende desenvolver, ou o problema concreto que se quer resolver.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154680"/>
            <a:ext cx="10332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474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AA9A1"/>
                </a:solidFill>
                <a:latin typeface="Aptos"/>
              </a:rPr>
              <a:t>NO TASKFLOW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913632"/>
            <a:ext cx="93268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1">
                <a:solidFill>
                  <a:srgbClr val="2D3644"/>
                </a:solidFill>
                <a:latin typeface="Aptos"/>
              </a:rPr>
              <a:t>O objeto do projeto é desenvolver uma aplicação de gestão de projetos e tarefas que permita criar projetos, organizar atividades, definir prazos e acompanhar o progresso do trabalho.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47182"/>
                </a:solidFill>
                <a:latin typeface="Aptos"/>
              </a:rPr>
              <a:t>TASKFLOW  |  Gestão de Projetos e Tarefas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18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>
                <a:solidFill>
                  <a:srgbClr val="182642"/>
                </a:solidFill>
                <a:latin typeface="Aptos"/>
              </a:rPr>
              <a:t>4. Objetivos do TaskFlow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04088" y="1051560"/>
            <a:ext cx="777240" cy="64008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6187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647182"/>
                </a:solidFill>
                <a:latin typeface="Aptos"/>
              </a:rPr>
              <a:t>O que a aplicação pretende alcançar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669BE"/>
                </a:solidFill>
                <a:latin typeface="Aptos"/>
              </a:rPr>
              <a:t>Objetivo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47548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0">
                <a:solidFill>
                  <a:srgbClr val="2D3644"/>
                </a:solidFill>
                <a:latin typeface="Aptos"/>
              </a:rPr>
              <a:t>Facilitar a organização e o acompanhamento de projetos e tarefas numa única plataforma.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78308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669BE"/>
                </a:solidFill>
                <a:latin typeface="Aptos"/>
              </a:rPr>
              <a:t>Objetivos específicos</a:t>
            </a:r>
          </a:p>
        </p:txBody>
      </p:sp>
      <p:sp>
        <p:nvSpPr>
          <p:cNvPr id="8" name="Oval 7"/>
          <p:cNvSpPr/>
          <p:nvPr/>
        </p:nvSpPr>
        <p:spPr>
          <a:xfrm>
            <a:off x="6217920" y="2441448"/>
            <a:ext cx="118872" cy="118872"/>
          </a:xfrm>
          <a:prstGeom prst="ellipse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331720"/>
            <a:ext cx="46817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2D3644"/>
                </a:solidFill>
                <a:latin typeface="Aptos"/>
              </a:rPr>
              <a:t>Criar e organizar projetos.</a:t>
            </a:r>
          </a:p>
        </p:txBody>
      </p:sp>
      <p:sp>
        <p:nvSpPr>
          <p:cNvPr id="10" name="Oval 9"/>
          <p:cNvSpPr/>
          <p:nvPr/>
        </p:nvSpPr>
        <p:spPr>
          <a:xfrm>
            <a:off x="6217920" y="3063240"/>
            <a:ext cx="118872" cy="118872"/>
          </a:xfrm>
          <a:prstGeom prst="ellipse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953512"/>
            <a:ext cx="46817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2D3644"/>
                </a:solidFill>
                <a:latin typeface="Aptos"/>
              </a:rPr>
              <a:t>Adicionar tarefas e atribuir responsáveis.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3685032"/>
            <a:ext cx="118872" cy="118872"/>
          </a:xfrm>
          <a:prstGeom prst="ellipse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3575304"/>
            <a:ext cx="46817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2D3644"/>
                </a:solidFill>
                <a:latin typeface="Aptos"/>
              </a:rPr>
              <a:t>Definir datas e acompanhar prazos.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4306824"/>
            <a:ext cx="118872" cy="118872"/>
          </a:xfrm>
          <a:prstGeom prst="ellipse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4197096"/>
            <a:ext cx="46817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2D3644"/>
                </a:solidFill>
                <a:latin typeface="Aptos"/>
              </a:rPr>
              <a:t>Visualizar o estado e o progresso das tarefas.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4928616"/>
            <a:ext cx="118872" cy="118872"/>
          </a:xfrm>
          <a:prstGeom prst="ellipse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4818888"/>
            <a:ext cx="46817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2D3644"/>
                </a:solidFill>
                <a:latin typeface="Aptos"/>
              </a:rPr>
              <a:t>Melhorar a comunicação e a produtividade.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47182"/>
                </a:solidFill>
                <a:latin typeface="Aptos"/>
              </a:rPr>
              <a:t>TASKFLOW  |  Gestão de Projetos e Tarefas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18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>
                <a:solidFill>
                  <a:srgbClr val="182642"/>
                </a:solidFill>
                <a:latin typeface="Aptos"/>
              </a:rPr>
              <a:t>5. Como funciona o TaskFlow?</a:t>
            </a:r>
          </a:p>
        </p:txBody>
      </p:sp>
      <p:sp>
        <p:nvSpPr>
          <p:cNvPr id="3" name="Rectangle 2"/>
          <p:cNvSpPr/>
          <p:nvPr/>
        </p:nvSpPr>
        <p:spPr>
          <a:xfrm>
            <a:off x="704088" y="1051560"/>
            <a:ext cx="777240" cy="64008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6187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647182"/>
                </a:solidFill>
                <a:latin typeface="Aptos"/>
              </a:rPr>
              <a:t>Um fluxo de trabalho simples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24231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4688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2AA9A1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999232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182642"/>
                </a:solidFill>
                <a:latin typeface="Aptos"/>
              </a:rPr>
              <a:t>Criar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566160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2D3644"/>
                </a:solidFill>
                <a:latin typeface="Aptos"/>
              </a:rPr>
              <a:t>Definir o nome e o objetivo.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4408" y="30632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669BE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240280"/>
            <a:ext cx="24231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8768" y="24688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2AA9A1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999232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182642"/>
                </a:solidFill>
                <a:latin typeface="Aptos"/>
              </a:rPr>
              <a:t>Adicionar tarefas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566160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2D3644"/>
                </a:solidFill>
                <a:latin typeface="Aptos"/>
              </a:rPr>
              <a:t>Dividir o trabalho em atividades.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30632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669BE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59" y="2240280"/>
            <a:ext cx="24231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7" y="24688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2AA9A1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7" y="2999232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182642"/>
                </a:solidFill>
                <a:latin typeface="Aptos"/>
              </a:rPr>
              <a:t>Definir prazos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7" y="3566160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2D3644"/>
                </a:solidFill>
                <a:latin typeface="Aptos"/>
              </a:rPr>
              <a:t>Indicar datas e responsáveis.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30632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669BE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19" y="2240280"/>
            <a:ext cx="24231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9488" y="24688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2AA9A1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8" y="2999232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182642"/>
                </a:solidFill>
                <a:latin typeface="Aptos"/>
              </a:rPr>
              <a:t>Acompanhar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3566160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2D3644"/>
                </a:solidFill>
                <a:latin typeface="Aptos"/>
              </a:rPr>
              <a:t>Atualizar o estado das tarefas.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647182"/>
                </a:solidFill>
                <a:latin typeface="Aptos"/>
              </a:rPr>
              <a:t>Resultado esperado: mais clareza sobre o que falta fazer, quem é responsável e quando cada tarefa deve estar concluída.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47182"/>
                </a:solidFill>
                <a:latin typeface="Aptos"/>
              </a:rPr>
              <a:t>TASKFLOW  |  Gestão de Projetos e Tarefas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18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>
                <a:solidFill>
                  <a:srgbClr val="182642"/>
                </a:solidFill>
                <a:latin typeface="Aptos"/>
              </a:rPr>
              <a:t>6. Benefícios esperados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04088" y="1051560"/>
            <a:ext cx="777240" cy="64008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6187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647182"/>
                </a:solidFill>
                <a:latin typeface="Aptos"/>
              </a:rPr>
              <a:t>O valor que o TaskFlow pretende oferecer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4892040" cy="1234440"/>
          </a:xfrm>
          <a:prstGeom prst="roundRect">
            <a:avLst/>
          </a:prstGeom>
          <a:solidFill>
            <a:srgbClr val="F1F6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2075688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3669BE"/>
                </a:solidFill>
                <a:latin typeface="Aptos"/>
              </a:rPr>
              <a:t>Organização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2441448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2D3644"/>
                </a:solidFill>
                <a:latin typeface="Aptos"/>
              </a:rPr>
              <a:t>Projetos e tarefas reunidos num só local.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874519"/>
            <a:ext cx="4892040" cy="1234440"/>
          </a:xfrm>
          <a:prstGeom prst="roundRect">
            <a:avLst/>
          </a:prstGeom>
          <a:solidFill>
            <a:srgbClr val="F1F6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2075688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3669BE"/>
                </a:solidFill>
                <a:latin typeface="Aptos"/>
              </a:rPr>
              <a:t>Gestão do tempo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441448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2D3644"/>
                </a:solidFill>
                <a:latin typeface="Aptos"/>
              </a:rPr>
              <a:t>Prazos mais visíveis e fáceis de acompanhar.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566160"/>
            <a:ext cx="4892040" cy="1234440"/>
          </a:xfrm>
          <a:prstGeom prst="roundRect">
            <a:avLst/>
          </a:prstGeom>
          <a:solidFill>
            <a:srgbClr val="F1F6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3767328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3669BE"/>
                </a:solidFill>
                <a:latin typeface="Aptos"/>
              </a:rPr>
              <a:t>Transparência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4133087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2D3644"/>
                </a:solidFill>
                <a:latin typeface="Aptos"/>
              </a:rPr>
              <a:t>Estado das atividades claro para a equipa.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566160"/>
            <a:ext cx="4892040" cy="1234440"/>
          </a:xfrm>
          <a:prstGeom prst="roundRect">
            <a:avLst/>
          </a:prstGeom>
          <a:solidFill>
            <a:srgbClr val="F1F6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3767328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3669BE"/>
                </a:solidFill>
                <a:latin typeface="Aptos"/>
              </a:rPr>
              <a:t>Produtividade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4133087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2D3644"/>
                </a:solidFill>
                <a:latin typeface="Aptos"/>
              </a:rPr>
              <a:t>Menos esquecimentos e melhor coordenação.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47182"/>
                </a:solidFill>
                <a:latin typeface="Aptos"/>
              </a:rPr>
              <a:t>TASKFLOW  |  Gestão de Projetos e Tarefas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18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6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Conclusão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371600"/>
            <a:ext cx="777240" cy="64008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784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O TaskFlow é um projeto orientado para criar uma ferramenta simples e útil de gestão de projetos e tarefas.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9692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0">
                <a:solidFill>
                  <a:srgbClr val="DAE4F1"/>
                </a:solidFill>
                <a:latin typeface="Aptos"/>
              </a:rPr>
              <a:t>Ao reunir projetos, tarefas, prazos e acompanhamento numa única plataforma, pretende ajudar os utilizadores a trabalhar de forma mais organizada e eficiente.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03504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2AA9A1"/>
                </a:solidFill>
                <a:latin typeface="Aptos"/>
              </a:rPr>
              <a:t>Obrigado pela atenção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BECDE1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