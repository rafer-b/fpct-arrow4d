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</p:sldIdLst>
  <p:sldSz cx="12192000" cy="6858000"/>
  <p:notesSz cx="6858000" cy="9144000"/>
  <p:embeddedFontLst>
    <p:embeddedFont>
      <p:font typeface="JetBrains Mono"/>
      <p:bold r:id="rId13"/>
    </p:embeddedFon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29300"/>
            <a:ext cx="109728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39225" y="657225"/>
            <a:ext cx="254317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8293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6096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86475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022" y="6097536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962" y="6086475"/>
            <a:ext cx="16192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91650" y="706539"/>
            <a:ext cx="23336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050" b="1" i="0" u="none" dirty="0">
                <a:solidFill>
                  <a:srgbClr val="38BDF8"/>
                </a:solidFill>
                <a:latin typeface="Plus Jakarta Sans"/>
              </a:rPr>
              <a:t>              </a:t>
            </a:r>
            <a:r>
              <a:rPr sz="1050" b="1" i="0" u="none" dirty="0" err="1">
                <a:solidFill>
                  <a:schemeClr val="bg1"/>
                </a:solidFill>
                <a:latin typeface="Plus Jakarta Sans"/>
              </a:rPr>
              <a:t>Outubro</a:t>
            </a:r>
            <a:r>
              <a:rPr sz="1050" b="1" i="0" u="none" dirty="0">
                <a:solidFill>
                  <a:schemeClr val="bg1"/>
                </a:solidFill>
                <a:latin typeface="Plus Jakarta Sans"/>
              </a:rPr>
              <a:t>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210841"/>
            <a:ext cx="217040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Plus Jakarta Sans"/>
              </a:rPr>
              <a:t>GUIA DE DESENVOLVIMENTO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582316"/>
            <a:ext cx="9101137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Do Modelo de Dados à Aplicação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037558"/>
            <a:ext cx="984209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Uma 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arquitetura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 completa 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utilizando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 Post</a:t>
            </a:r>
            <a:r>
              <a:rPr lang="pt-PT" sz="1500" b="1" i="0" u="none" dirty="0">
                <a:solidFill>
                  <a:srgbClr val="94A3B8"/>
                </a:solidFill>
                <a:latin typeface="Plus Jakarta Sans"/>
              </a:rPr>
              <a:t>g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reSQL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Nuxt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 4</a:t>
            </a:r>
            <a:r>
              <a:rPr lang="pt-PT" sz="1500" b="1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lang="pt-PT" sz="1500" b="1" dirty="0">
                <a:solidFill>
                  <a:srgbClr val="94A3B8"/>
                </a:solidFill>
                <a:latin typeface="Plus Jakarta Sans"/>
              </a:rPr>
              <a:t>e </a:t>
            </a:r>
            <a:r>
              <a:rPr lang="pt-PT" sz="1500" b="1" dirty="0" err="1">
                <a:solidFill>
                  <a:srgbClr val="94A3B8"/>
                </a:solidFill>
                <a:latin typeface="Plus Jakarta Sans"/>
              </a:rPr>
              <a:t>FastAPI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 para 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gestão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 e 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acompanhamento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projetos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94A3B8"/>
                </a:solidFill>
                <a:latin typeface="Plus Jakarta Sans"/>
              </a:rPr>
              <a:t>académicos</a:t>
            </a:r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6067425"/>
            <a:ext cx="1133475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 dirty="0">
                <a:solidFill>
                  <a:srgbClr val="CBD5E1"/>
                </a:solidFill>
                <a:latin typeface="Plus Jakarta Sans"/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6125" y="6064199"/>
            <a:ext cx="819150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 dirty="0" err="1">
                <a:solidFill>
                  <a:srgbClr val="CBD5E1"/>
                </a:solidFill>
                <a:latin typeface="Plus Jakarta Sans"/>
              </a:rPr>
              <a:t>FastAPI</a:t>
            </a:r>
            <a:endParaRPr sz="1125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77692" y="6059436"/>
            <a:ext cx="733425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0" i="0" u="none" dirty="0" err="1">
                <a:solidFill>
                  <a:srgbClr val="CBD5E1"/>
                </a:solidFill>
                <a:latin typeface="Plus Jakarta Sans"/>
              </a:rPr>
              <a:t>Nuxt</a:t>
            </a:r>
            <a:r>
              <a:rPr sz="1125" b="0" i="0" u="none" dirty="0">
                <a:solidFill>
                  <a:srgbClr val="CBD5E1"/>
                </a:solidFill>
                <a:latin typeface="Plus Jakarta Sans"/>
              </a:rPr>
              <a:t>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" y="6096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TF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700087"/>
            <a:ext cx="1200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94A3B8"/>
                </a:solidFill>
                <a:latin typeface="Plus Jakarta Sans"/>
              </a:rPr>
              <a:t>TASKFLOW</a:t>
            </a: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F9CF24D4-868A-69F9-1D6E-1EE6A3F16118}"/>
              </a:ext>
            </a:extLst>
          </p:cNvPr>
          <p:cNvSpPr/>
          <p:nvPr/>
        </p:nvSpPr>
        <p:spPr>
          <a:xfrm>
            <a:off x="381000" y="6449806"/>
            <a:ext cx="254317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5AE2DEB4-B279-DBD0-02FB-6C9EE19EA77C}"/>
              </a:ext>
            </a:extLst>
          </p:cNvPr>
          <p:cNvSpPr txBox="1"/>
          <p:nvPr/>
        </p:nvSpPr>
        <p:spPr>
          <a:xfrm>
            <a:off x="733425" y="6499120"/>
            <a:ext cx="23336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050" b="1" i="0" u="none" dirty="0">
                <a:solidFill>
                  <a:srgbClr val="38BDF8"/>
                </a:solidFill>
                <a:latin typeface="Plus Jakarta Sans"/>
              </a:rPr>
              <a:t>              </a:t>
            </a:r>
            <a:r>
              <a:rPr lang="pt-PT" sz="1050" b="1" dirty="0">
                <a:solidFill>
                  <a:schemeClr val="bg1"/>
                </a:solidFill>
                <a:latin typeface="Plus Jakarta Sans"/>
              </a:rPr>
              <a:t>Ramalho Fernando </a:t>
            </a:r>
            <a:r>
              <a:rPr lang="pt-PT" sz="1050" b="1" dirty="0" err="1">
                <a:solidFill>
                  <a:schemeClr val="bg1"/>
                </a:solidFill>
                <a:latin typeface="Plus Jakarta Sans"/>
              </a:rPr>
              <a:t>Ié</a:t>
            </a:r>
            <a:endParaRPr sz="1050" b="1" i="0" u="none" dirty="0">
              <a:solidFill>
                <a:schemeClr val="bg1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9862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09862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09862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62275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962275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96227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60781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latin typeface="Aptos" panose="020B0004020202020204" pitchFamily="34" charset="0"/>
              </a:rPr>
              <a:t>0</a:t>
            </a:r>
            <a:r>
              <a:rPr lang="pt-PT" sz="1050" b="1" i="0" u="none" dirty="0">
                <a:latin typeface="Aptos" panose="020B0004020202020204" pitchFamily="34" charset="0"/>
              </a:rPr>
              <a:t>2</a:t>
            </a:r>
            <a:r>
              <a:rPr sz="1050" b="1" i="0" u="none" dirty="0">
                <a:latin typeface="Aptos" panose="020B0004020202020204" pitchFamily="34" charset="0"/>
              </a:rPr>
              <a:t>. MODELO</a:t>
            </a:r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 </a:t>
            </a:r>
            <a:r>
              <a:rPr sz="1050" b="1" i="0" u="none" dirty="0">
                <a:latin typeface="Aptos" panose="020B0004020202020204" pitchFamily="34" charset="0"/>
              </a:rPr>
              <a:t>CONCEITUAL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506888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Entidades</a:t>
            </a:r>
            <a:r>
              <a:rPr sz="27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Principais</a:t>
            </a:r>
            <a:r>
              <a:rPr sz="27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&amp; </a:t>
            </a:r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Atributos</a:t>
            </a:r>
            <a:endParaRPr sz="2700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1100" y="2947987"/>
            <a:ext cx="13424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latin typeface="Aptos" panose="020B0004020202020204" pitchFamily="34" charset="0"/>
              </a:rPr>
              <a:t>Utilizador</a:t>
            </a:r>
            <a:r>
              <a:rPr sz="1350" b="1" i="0" u="none" dirty="0">
                <a:latin typeface="Aptos" panose="020B0004020202020204" pitchFamily="34" charset="0"/>
              </a:rPr>
              <a:t> (users)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319462"/>
            <a:ext cx="1146148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i="0" u="none" dirty="0">
                <a:latin typeface="Aptos" panose="020B0004020202020204" pitchFamily="34" charset="0"/>
              </a:rPr>
              <a:t>id:</a:t>
            </a:r>
            <a:r>
              <a:rPr sz="1125" b="0" i="0" u="none" dirty="0">
                <a:latin typeface="Aptos" panose="020B0004020202020204" pitchFamily="34" charset="0"/>
              </a:rPr>
              <a:t> Chave </a:t>
            </a:r>
            <a:r>
              <a:rPr sz="1125" b="0" i="0" u="none" dirty="0" err="1">
                <a:latin typeface="Aptos" panose="020B0004020202020204" pitchFamily="34" charset="0"/>
              </a:rPr>
              <a:t>Primária</a:t>
            </a:r>
            <a:endParaRPr sz="1125" b="0" i="0" u="none" dirty="0"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7725" y="3633787"/>
            <a:ext cx="1502014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75"/>
              </a:lnSpc>
            </a:pPr>
            <a:r>
              <a:rPr sz="1125" b="1" dirty="0">
                <a:latin typeface="Aptos" panose="020B0004020202020204" pitchFamily="34" charset="0"/>
              </a:rPr>
              <a:t>name: </a:t>
            </a:r>
            <a:r>
              <a:rPr sz="1125" dirty="0">
                <a:latin typeface="Aptos" panose="020B0004020202020204" pitchFamily="34" charset="0"/>
              </a:rPr>
              <a:t>Nome </a:t>
            </a:r>
            <a:r>
              <a:rPr sz="1125" dirty="0" err="1">
                <a:latin typeface="Aptos" panose="020B0004020202020204" pitchFamily="34" charset="0"/>
              </a:rPr>
              <a:t>completo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7725" y="3948112"/>
            <a:ext cx="1631857" cy="2799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>
                <a:latin typeface="Aptos" panose="020B0004020202020204" pitchFamily="34" charset="0"/>
              </a:rPr>
              <a:t>email: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Identificador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Único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7725" y="4262437"/>
            <a:ext cx="1854675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 err="1">
                <a:latin typeface="Aptos" panose="020B0004020202020204" pitchFamily="34" charset="0"/>
              </a:rPr>
              <a:t>password_hash</a:t>
            </a:r>
            <a:r>
              <a:rPr sz="1125" b="1" dirty="0">
                <a:latin typeface="Aptos" panose="020B0004020202020204" pitchFamily="34" charset="0"/>
              </a:rPr>
              <a:t>: </a:t>
            </a:r>
            <a:r>
              <a:rPr sz="1125" dirty="0">
                <a:latin typeface="Aptos" panose="020B0004020202020204" pitchFamily="34" charset="0"/>
              </a:rPr>
              <a:t>Cifra </a:t>
            </a:r>
            <a:r>
              <a:rPr sz="1125" dirty="0" err="1">
                <a:latin typeface="Aptos" panose="020B0004020202020204" pitchFamily="34" charset="0"/>
              </a:rPr>
              <a:t>segura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7725" y="4576762"/>
            <a:ext cx="1396216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 err="1">
                <a:latin typeface="Aptos" panose="020B0004020202020204" pitchFamily="34" charset="0"/>
              </a:rPr>
              <a:t>is_active</a:t>
            </a:r>
            <a:r>
              <a:rPr sz="1125" b="1" dirty="0">
                <a:latin typeface="Aptos" panose="020B0004020202020204" pitchFamily="34" charset="0"/>
              </a:rPr>
              <a:t> / </a:t>
            </a:r>
            <a:r>
              <a:rPr sz="1125" b="1" dirty="0" err="1">
                <a:latin typeface="Aptos" panose="020B0004020202020204" pitchFamily="34" charset="0"/>
              </a:rPr>
              <a:t>created_at</a:t>
            </a:r>
            <a:endParaRPr sz="1125" b="1" dirty="0">
              <a:latin typeface="Aptos" panose="020B00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5850" y="2947987"/>
            <a:ext cx="135434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dirty="0" err="1">
                <a:latin typeface="Aptos" panose="020B0004020202020204" pitchFamily="34" charset="0"/>
              </a:rPr>
              <a:t>Projeto</a:t>
            </a:r>
            <a:r>
              <a:rPr sz="1350" b="1" dirty="0">
                <a:latin typeface="Aptos" panose="020B0004020202020204" pitchFamily="34" charset="0"/>
              </a:rPr>
              <a:t> (projects)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319462"/>
            <a:ext cx="1146148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i="0" u="none" dirty="0">
                <a:latin typeface="Aptos" panose="020B0004020202020204" pitchFamily="34" charset="0"/>
              </a:rPr>
              <a:t>id</a:t>
            </a:r>
            <a:r>
              <a:rPr sz="1125" b="1" i="0" u="none" dirty="0">
                <a:solidFill>
                  <a:srgbClr val="475569"/>
                </a:solidFill>
                <a:latin typeface="Aptos" panose="020B0004020202020204" pitchFamily="34" charset="0"/>
              </a:rPr>
              <a:t>:</a:t>
            </a:r>
            <a:r>
              <a:rPr sz="1125" b="0" i="0" u="none" dirty="0">
                <a:solidFill>
                  <a:srgbClr val="475569"/>
                </a:solidFill>
                <a:latin typeface="Aptos" panose="020B0004020202020204" pitchFamily="34" charset="0"/>
              </a:rPr>
              <a:t> </a:t>
            </a:r>
            <a:r>
              <a:rPr sz="1125" b="0" i="0" u="none" dirty="0">
                <a:latin typeface="Aptos" panose="020B0004020202020204" pitchFamily="34" charset="0"/>
              </a:rPr>
              <a:t>Chave </a:t>
            </a:r>
            <a:r>
              <a:rPr sz="1125" b="0" i="0" u="none" dirty="0" err="1">
                <a:latin typeface="Aptos" panose="020B0004020202020204" pitchFamily="34" charset="0"/>
              </a:rPr>
              <a:t>Primária</a:t>
            </a:r>
            <a:endParaRPr sz="1125" b="0" i="0" u="none" dirty="0">
              <a:latin typeface="Aptos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81525" y="3633787"/>
            <a:ext cx="1869101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>
                <a:latin typeface="Aptos" panose="020B0004020202020204" pitchFamily="34" charset="0"/>
              </a:rPr>
              <a:t>name / description: </a:t>
            </a:r>
            <a:r>
              <a:rPr sz="1125" dirty="0" err="1">
                <a:latin typeface="Aptos" panose="020B0004020202020204" pitchFamily="34" charset="0"/>
              </a:rPr>
              <a:t>Detalhes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81525" y="3948112"/>
            <a:ext cx="2175275" cy="2799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>
                <a:latin typeface="Aptos" panose="020B0004020202020204" pitchFamily="34" charset="0"/>
              </a:rPr>
              <a:t>status: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Ativo</a:t>
            </a:r>
            <a:r>
              <a:rPr sz="1125" dirty="0">
                <a:latin typeface="Aptos" panose="020B0004020202020204" pitchFamily="34" charset="0"/>
              </a:rPr>
              <a:t>/</a:t>
            </a:r>
            <a:r>
              <a:rPr sz="1125" dirty="0" err="1">
                <a:latin typeface="Aptos" panose="020B0004020202020204" pitchFamily="34" charset="0"/>
              </a:rPr>
              <a:t>Concluído</a:t>
            </a:r>
            <a:r>
              <a:rPr sz="1125" dirty="0">
                <a:latin typeface="Aptos" panose="020B0004020202020204" pitchFamily="34" charset="0"/>
              </a:rPr>
              <a:t>/</a:t>
            </a:r>
            <a:r>
              <a:rPr sz="1125" dirty="0" err="1">
                <a:latin typeface="Aptos" panose="020B0004020202020204" pitchFamily="34" charset="0"/>
              </a:rPr>
              <a:t>Arquivado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81525" y="4262437"/>
            <a:ext cx="1660711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 err="1">
                <a:latin typeface="Aptos" panose="020B0004020202020204" pitchFamily="34" charset="0"/>
              </a:rPr>
              <a:t>created_by</a:t>
            </a:r>
            <a:r>
              <a:rPr sz="1125" b="1" dirty="0">
                <a:latin typeface="Aptos" panose="020B0004020202020204" pitchFamily="34" charset="0"/>
              </a:rPr>
              <a:t>: </a:t>
            </a:r>
            <a:r>
              <a:rPr sz="1125" dirty="0">
                <a:latin typeface="Aptos" panose="020B0004020202020204" pitchFamily="34" charset="0"/>
              </a:rPr>
              <a:t>FK para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4576762"/>
            <a:ext cx="1566134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 err="1">
                <a:latin typeface="Aptos" panose="020B0004020202020204" pitchFamily="34" charset="0"/>
              </a:rPr>
              <a:t>created_at</a:t>
            </a:r>
            <a:r>
              <a:rPr sz="1125" b="1" dirty="0">
                <a:latin typeface="Aptos" panose="020B0004020202020204" pitchFamily="34" charset="0"/>
              </a:rPr>
              <a:t> / </a:t>
            </a:r>
            <a:r>
              <a:rPr sz="1125" b="1" dirty="0" err="1">
                <a:latin typeface="Aptos" panose="020B0004020202020204" pitchFamily="34" charset="0"/>
              </a:rPr>
              <a:t>updated_at</a:t>
            </a:r>
            <a:endParaRPr sz="1125" b="1" dirty="0">
              <a:latin typeface="Aptos" panose="020B00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01075" y="2947987"/>
            <a:ext cx="104599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50" b="1" dirty="0" err="1">
                <a:latin typeface="Aptos" panose="020B0004020202020204" pitchFamily="34" charset="0"/>
              </a:rPr>
              <a:t>Tarefa</a:t>
            </a:r>
            <a:r>
              <a:rPr sz="1350" b="1" dirty="0">
                <a:latin typeface="Aptos" panose="020B0004020202020204" pitchFamily="34" charset="0"/>
              </a:rPr>
              <a:t> (tasks)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3319462"/>
            <a:ext cx="1146148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>
                <a:latin typeface="Aptos" panose="020B0004020202020204" pitchFamily="34" charset="0"/>
              </a:rPr>
              <a:t>id: </a:t>
            </a:r>
            <a:r>
              <a:rPr sz="1125" dirty="0">
                <a:latin typeface="Aptos" panose="020B0004020202020204" pitchFamily="34" charset="0"/>
              </a:rPr>
              <a:t>Chave </a:t>
            </a:r>
            <a:r>
              <a:rPr sz="1125" dirty="0" err="1">
                <a:latin typeface="Aptos" panose="020B0004020202020204" pitchFamily="34" charset="0"/>
              </a:rPr>
              <a:t>Primária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15325" y="3633787"/>
            <a:ext cx="1822615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>
                <a:latin typeface="Aptos" panose="020B0004020202020204" pitchFamily="34" charset="0"/>
              </a:rPr>
              <a:t>title / description: </a:t>
            </a:r>
            <a:r>
              <a:rPr sz="1125" dirty="0" err="1">
                <a:latin typeface="Aptos" panose="020B0004020202020204" pitchFamily="34" charset="0"/>
              </a:rPr>
              <a:t>Conteúdo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15325" y="3948112"/>
            <a:ext cx="1861087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 err="1">
                <a:latin typeface="Aptos" panose="020B0004020202020204" pitchFamily="34" charset="0"/>
              </a:rPr>
              <a:t>project_id</a:t>
            </a:r>
            <a:r>
              <a:rPr sz="1125" b="1" dirty="0">
                <a:latin typeface="Aptos" panose="020B0004020202020204" pitchFamily="34" charset="0"/>
              </a:rPr>
              <a:t> / </a:t>
            </a:r>
            <a:r>
              <a:rPr sz="1125" b="1" dirty="0" err="1">
                <a:latin typeface="Aptos" panose="020B0004020202020204" pitchFamily="34" charset="0"/>
              </a:rPr>
              <a:t>assigned_to</a:t>
            </a:r>
            <a:r>
              <a:rPr sz="1125" b="1" dirty="0">
                <a:latin typeface="Aptos" panose="020B0004020202020204" pitchFamily="34" charset="0"/>
              </a:rPr>
              <a:t>: </a:t>
            </a:r>
            <a:r>
              <a:rPr sz="1125" dirty="0">
                <a:latin typeface="Aptos" panose="020B0004020202020204" pitchFamily="34" charset="0"/>
              </a:rPr>
              <a:t>FKs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4262437"/>
            <a:ext cx="1922001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>
                <a:latin typeface="Aptos" panose="020B0004020202020204" pitchFamily="34" charset="0"/>
              </a:rPr>
              <a:t>priority / status: </a:t>
            </a:r>
            <a:r>
              <a:rPr sz="1125" dirty="0" err="1">
                <a:latin typeface="Aptos" panose="020B0004020202020204" pitchFamily="34" charset="0"/>
              </a:rPr>
              <a:t>Classificação</a:t>
            </a:r>
            <a:endParaRPr sz="1125" dirty="0">
              <a:latin typeface="Aptos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15325" y="4576762"/>
            <a:ext cx="1360950" cy="280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125" b="1" dirty="0" err="1">
                <a:latin typeface="Aptos" panose="020B0004020202020204" pitchFamily="34" charset="0"/>
              </a:rPr>
              <a:t>due_date</a:t>
            </a:r>
            <a:r>
              <a:rPr sz="1125" b="1" dirty="0">
                <a:latin typeface="Aptos" panose="020B0004020202020204" pitchFamily="34" charset="0"/>
              </a:rPr>
              <a:t>: </a:t>
            </a:r>
            <a:r>
              <a:rPr sz="1125" dirty="0">
                <a:latin typeface="Aptos" panose="020B0004020202020204" pitchFamily="34" charset="0"/>
              </a:rPr>
              <a:t>Data </a:t>
            </a:r>
            <a:r>
              <a:rPr sz="1125" dirty="0" err="1">
                <a:latin typeface="Aptos" panose="020B0004020202020204" pitchFamily="34" charset="0"/>
              </a:rPr>
              <a:t>limite</a:t>
            </a:r>
            <a:endParaRPr sz="1125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6671"/>
            <a:ext cx="10972800" cy="2300882"/>
          </a:xfrm>
          <a:prstGeom prst="roundRect">
            <a:avLst>
              <a:gd name="adj" fmla="val 8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908053"/>
            <a:ext cx="10972800" cy="47625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2730996"/>
            <a:ext cx="2095500" cy="1672232"/>
          </a:xfrm>
          <a:prstGeom prst="roundRect">
            <a:avLst>
              <a:gd name="adj" fmla="val 6835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48250" y="2730996"/>
            <a:ext cx="2095500" cy="1672232"/>
          </a:xfrm>
          <a:prstGeom prst="roundRect">
            <a:avLst>
              <a:gd name="adj" fmla="val 6835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72575" y="2730996"/>
            <a:ext cx="2095500" cy="1672232"/>
          </a:xfrm>
          <a:prstGeom prst="roundRect">
            <a:avLst>
              <a:gd name="adj" fmla="val 6835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33475" y="3216771"/>
            <a:ext cx="1676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90950" y="3289707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48087" y="3557587"/>
            <a:ext cx="571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57800" y="3216771"/>
            <a:ext cx="1676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67662" y="3290887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72412" y="3557587"/>
            <a:ext cx="571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82125" y="3216771"/>
            <a:ext cx="1676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89028"/>
            <a:ext cx="17145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58697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latin typeface="Aptos" panose="020B0004020202020204" pitchFamily="34" charset="0"/>
              </a:rPr>
              <a:t>0</a:t>
            </a:r>
            <a:r>
              <a:rPr lang="pt-PT" sz="1050" b="1" dirty="0">
                <a:latin typeface="Aptos" panose="020B0004020202020204" pitchFamily="34" charset="0"/>
              </a:rPr>
              <a:t>3</a:t>
            </a:r>
            <a:r>
              <a:rPr sz="1050" b="1" dirty="0">
                <a:latin typeface="Aptos" panose="020B0004020202020204" pitchFamily="34" charset="0"/>
              </a:rPr>
              <a:t>. MODELO RELACIONAL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81050"/>
            <a:ext cx="643849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Diagrama</a:t>
            </a:r>
            <a:r>
              <a:rPr sz="2700" b="1" dirty="0">
                <a:solidFill>
                  <a:srgbClr val="0F172A"/>
                </a:solidFill>
                <a:latin typeface="Aptos" panose="020B0004020202020204" pitchFamily="34" charset="0"/>
              </a:rPr>
              <a:t> </a:t>
            </a:r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Entidade</a:t>
            </a:r>
            <a:r>
              <a:rPr sz="2700" b="1" dirty="0">
                <a:solidFill>
                  <a:srgbClr val="0F172A"/>
                </a:solidFill>
                <a:latin typeface="Aptos" panose="020B0004020202020204" pitchFamily="34" charset="0"/>
              </a:rPr>
              <a:t>–</a:t>
            </a:r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Relacionamento</a:t>
            </a:r>
            <a:r>
              <a:rPr sz="2700" b="1" dirty="0">
                <a:solidFill>
                  <a:srgbClr val="0F172A"/>
                </a:solidFill>
                <a:latin typeface="Aptos" panose="020B0004020202020204" pitchFamily="34" charset="0"/>
              </a:rPr>
              <a:t> (ER)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212" y="3328987"/>
            <a:ext cx="8572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 err="1">
                <a:latin typeface="Aptos" panose="020B0004020202020204" pitchFamily="34" charset="0"/>
              </a:rPr>
              <a:t>Criação</a:t>
            </a:r>
            <a:endParaRPr sz="975" b="1" i="0" u="none" dirty="0">
              <a:latin typeface="Aptos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29537" y="3328987"/>
            <a:ext cx="8572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 err="1">
                <a:latin typeface="Plus Jakarta Sans"/>
              </a:rPr>
              <a:t>Contém</a:t>
            </a:r>
            <a:endParaRPr sz="975" b="1" i="0" u="none" dirty="0"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200" y="5060453"/>
            <a:ext cx="3333750" cy="17145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334155"/>
                </a:solidFill>
                <a:latin typeface="Plus Jakarta Sans"/>
              </a:rPr>
              <a:t>Associação</a:t>
            </a:r>
            <a:r>
              <a:rPr sz="1050" b="1" i="0" u="none" dirty="0">
                <a:solidFill>
                  <a:srgbClr val="334155"/>
                </a:solidFill>
                <a:latin typeface="Plus Jakarta Sans"/>
              </a:rPr>
              <a:t> N:M (</a:t>
            </a:r>
            <a:r>
              <a:rPr sz="1050" b="1" i="0" u="none" dirty="0" err="1">
                <a:solidFill>
                  <a:srgbClr val="334155"/>
                </a:solidFill>
                <a:latin typeface="Plus Jakarta Sans"/>
              </a:rPr>
              <a:t>project_members</a:t>
            </a:r>
            <a:r>
              <a:rPr sz="1050" b="1" i="0" u="none" dirty="0">
                <a:solidFill>
                  <a:srgbClr val="334155"/>
                </a:solidFill>
                <a:latin typeface="Plus Jakarta Sans"/>
              </a:rPr>
              <a:t>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7275" y="5060453"/>
            <a:ext cx="7324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Relaciona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1" i="0" u="none" dirty="0">
                <a:solidFill>
                  <a:srgbClr val="64748B"/>
                </a:solidFill>
                <a:latin typeface="Plus Jakarta Sans"/>
              </a:rPr>
              <a:t>Users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e </a:t>
            </a:r>
            <a:r>
              <a:rPr sz="1050" b="1" i="0" u="none" dirty="0">
                <a:solidFill>
                  <a:srgbClr val="64748B"/>
                </a:solidFill>
                <a:latin typeface="Plus Jakarta Sans"/>
              </a:rPr>
              <a:t>Projects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através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das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chaves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(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project_id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,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user_id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)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guardando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o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papel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(role) do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membro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2940546"/>
            <a:ext cx="2095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latin typeface="Aptos" panose="020B0004020202020204" pitchFamily="34" charset="0"/>
              </a:rPr>
              <a:t>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475" y="3302496"/>
            <a:ext cx="1771650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 dirty="0">
                <a:latin typeface="Aptos" panose="020B0004020202020204" pitchFamily="34" charset="0"/>
              </a:rPr>
              <a:t>PK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1" dirty="0">
                <a:latin typeface="Aptos" panose="020B0004020202020204" pitchFamily="34" charset="0"/>
              </a:rPr>
              <a:t>id</a:t>
            </a:r>
            <a:r>
              <a:rPr dirty="0"/>
              <a:t>
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1" dirty="0">
                <a:latin typeface="Aptos" panose="020B0004020202020204" pitchFamily="34" charset="0"/>
              </a:rPr>
              <a:t>name</a:t>
            </a:r>
            <a:r>
              <a:rPr dirty="0"/>
              <a:t>
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1" dirty="0">
                <a:latin typeface="Aptos" panose="020B0004020202020204" pitchFamily="34" charset="0"/>
              </a:rPr>
              <a:t>email (UNIQUE)</a:t>
            </a:r>
            <a:r>
              <a:rPr dirty="0"/>
              <a:t>
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1" dirty="0" err="1">
                <a:latin typeface="Aptos" panose="020B0004020202020204" pitchFamily="34" charset="0"/>
              </a:rPr>
              <a:t>password_hash</a:t>
            </a:r>
            <a:endParaRPr sz="975" b="1" dirty="0">
              <a:latin typeface="Aptos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29038" y="3614737"/>
            <a:ext cx="628649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latin typeface="Aptos" panose="020B0004020202020204" pitchFamily="34" charset="0"/>
              </a:rPr>
              <a:t>1 :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8250" y="2940546"/>
            <a:ext cx="2095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Aptos" panose="020B0004020202020204" pitchFamily="34" charset="0"/>
              </a:rPr>
              <a:t>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302496"/>
            <a:ext cx="1771650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dirty="0">
                <a:latin typeface="Aptos" panose="020B0004020202020204" pitchFamily="34" charset="0"/>
              </a:rPr>
              <a:t>PK id</a:t>
            </a:r>
            <a:r>
              <a:rPr dirty="0"/>
              <a:t>
</a:t>
            </a:r>
            <a:r>
              <a:rPr sz="975" b="1" dirty="0">
                <a:latin typeface="Aptos" panose="020B0004020202020204" pitchFamily="34" charset="0"/>
              </a:rPr>
              <a:t>FK </a:t>
            </a:r>
            <a:r>
              <a:rPr sz="975" b="1" dirty="0" err="1">
                <a:latin typeface="Aptos" panose="020B0004020202020204" pitchFamily="34" charset="0"/>
              </a:rPr>
              <a:t>created_by</a:t>
            </a:r>
            <a:r>
              <a:rPr dirty="0"/>
              <a:t>
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1" dirty="0">
                <a:latin typeface="Aptos" panose="020B0004020202020204" pitchFamily="34" charset="0"/>
              </a:rPr>
              <a:t>name, description</a:t>
            </a:r>
            <a:r>
              <a:rPr dirty="0"/>
              <a:t>
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1" dirty="0"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6293" y="3579863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latin typeface="Aptos" panose="020B0004020202020204" pitchFamily="34" charset="0"/>
              </a:rPr>
              <a:t>1 : 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575" y="2940546"/>
            <a:ext cx="2095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Aptos" panose="020B0004020202020204" pitchFamily="34" charset="0"/>
              </a:rPr>
              <a:t>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2125" y="3302496"/>
            <a:ext cx="1771650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dirty="0">
                <a:latin typeface="Aptos" panose="020B0004020202020204" pitchFamily="34" charset="0"/>
              </a:rPr>
              <a:t>PK id</a:t>
            </a:r>
            <a:r>
              <a:rPr dirty="0"/>
              <a:t>
</a:t>
            </a:r>
            <a:r>
              <a:rPr sz="975" b="1" dirty="0">
                <a:latin typeface="Aptos" panose="020B0004020202020204" pitchFamily="34" charset="0"/>
              </a:rPr>
              <a:t>FK </a:t>
            </a:r>
            <a:r>
              <a:rPr sz="975" b="1" dirty="0" err="1">
                <a:latin typeface="Aptos" panose="020B0004020202020204" pitchFamily="34" charset="0"/>
              </a:rPr>
              <a:t>project_id</a:t>
            </a:r>
            <a:r>
              <a:rPr dirty="0"/>
              <a:t>
</a:t>
            </a:r>
            <a:r>
              <a:rPr sz="975" b="1" i="0" u="none" dirty="0">
                <a:latin typeface="Aptos" panose="020B0004020202020204" pitchFamily="34" charset="0"/>
              </a:rPr>
              <a:t>FK</a:t>
            </a:r>
            <a:r>
              <a:rPr sz="975" b="0" i="0" u="none" dirty="0">
                <a:latin typeface="Aptos" panose="020B0004020202020204" pitchFamily="34" charset="0"/>
              </a:rPr>
              <a:t> </a:t>
            </a:r>
            <a:r>
              <a:rPr sz="975" b="0" i="0" u="none" dirty="0" err="1">
                <a:latin typeface="Aptos" panose="020B0004020202020204" pitchFamily="34" charset="0"/>
              </a:rPr>
              <a:t>assigned_to</a:t>
            </a:r>
            <a:r>
              <a:rPr dirty="0"/>
              <a:t>
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>
                <a:latin typeface="Aptos" panose="020B0004020202020204" pitchFamily="34" charset="0"/>
              </a:rPr>
              <a:t>title, priority,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09600" y="28003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6099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4196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8947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</a:t>
            </a:r>
            <a:r>
              <a:rPr lang="pt-PT" sz="1050" b="1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4</a:t>
            </a:r>
            <a:r>
              <a:rPr sz="1050" b="1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. INTEGRIDADE DO DOMÍNIO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498072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Regras</a:t>
            </a:r>
            <a:r>
              <a:rPr sz="27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do </a:t>
            </a:r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Negócio</a:t>
            </a:r>
            <a:r>
              <a:rPr sz="27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&amp; </a:t>
            </a:r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Restrições</a:t>
            </a:r>
            <a:endParaRPr sz="2700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725" y="2879467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3689092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" y="4498717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2800350"/>
            <a:ext cx="155747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Chaves e </a:t>
            </a:r>
            <a:r>
              <a:rPr sz="135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Unicidade</a:t>
            </a:r>
            <a:endParaRPr sz="1350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4900" y="3057525"/>
            <a:ext cx="461962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latin typeface="Aptos" panose="020B0004020202020204" pitchFamily="34" charset="0"/>
              </a:rPr>
              <a:t>Chaves </a:t>
            </a:r>
            <a:r>
              <a:rPr sz="1125" b="0" i="0" u="none" dirty="0" err="1">
                <a:latin typeface="Aptos" panose="020B0004020202020204" pitchFamily="34" charset="0"/>
              </a:rPr>
              <a:t>Primárias</a:t>
            </a:r>
            <a:r>
              <a:rPr sz="1125" b="0" i="0" u="none" dirty="0">
                <a:latin typeface="Aptos" panose="020B0004020202020204" pitchFamily="34" charset="0"/>
              </a:rPr>
              <a:t> (PK) </a:t>
            </a:r>
            <a:r>
              <a:rPr sz="1125" b="0" i="0" u="none" dirty="0" err="1">
                <a:latin typeface="Aptos" panose="020B0004020202020204" pitchFamily="34" charset="0"/>
              </a:rPr>
              <a:t>únicas</a:t>
            </a:r>
            <a:r>
              <a:rPr sz="1125" b="0" i="0" u="none" dirty="0">
                <a:latin typeface="Aptos" panose="020B0004020202020204" pitchFamily="34" charset="0"/>
              </a:rPr>
              <a:t> </a:t>
            </a:r>
            <a:r>
              <a:rPr sz="1125" b="0" i="0" u="none" dirty="0" err="1">
                <a:latin typeface="Aptos" panose="020B0004020202020204" pitchFamily="34" charset="0"/>
              </a:rPr>
              <a:t>por</a:t>
            </a:r>
            <a:r>
              <a:rPr sz="1125" b="0" i="0" u="none" dirty="0">
                <a:latin typeface="Aptos" panose="020B0004020202020204" pitchFamily="34" charset="0"/>
              </a:rPr>
              <a:t> </a:t>
            </a:r>
            <a:r>
              <a:rPr sz="1125" b="0" i="0" u="none" dirty="0" err="1">
                <a:latin typeface="Aptos" panose="020B0004020202020204" pitchFamily="34" charset="0"/>
              </a:rPr>
              <a:t>registo</a:t>
            </a:r>
            <a:r>
              <a:rPr sz="1125" b="0" i="0" u="none" dirty="0">
                <a:latin typeface="Aptos" panose="020B0004020202020204" pitchFamily="34" charset="0"/>
              </a:rPr>
              <a:t>; Chaves </a:t>
            </a:r>
            <a:r>
              <a:rPr sz="1125" b="0" i="0" u="none" dirty="0" err="1">
                <a:latin typeface="Aptos" panose="020B0004020202020204" pitchFamily="34" charset="0"/>
              </a:rPr>
              <a:t>Estrangeiras</a:t>
            </a:r>
            <a:r>
              <a:rPr sz="1125" b="0" i="0" u="none" dirty="0">
                <a:latin typeface="Aptos" panose="020B0004020202020204" pitchFamily="34" charset="0"/>
              </a:rPr>
              <a:t> (FK) </a:t>
            </a:r>
            <a:r>
              <a:rPr sz="1125" b="0" i="0" u="none" dirty="0" err="1">
                <a:latin typeface="Aptos" panose="020B0004020202020204" pitchFamily="34" charset="0"/>
              </a:rPr>
              <a:t>asseguram</a:t>
            </a:r>
            <a:r>
              <a:rPr sz="1125" b="0" i="0" u="none" dirty="0">
                <a:latin typeface="Aptos" panose="020B0004020202020204" pitchFamily="34" charset="0"/>
              </a:rPr>
              <a:t> </a:t>
            </a:r>
            <a:r>
              <a:rPr sz="1125" b="0" i="0" u="none" dirty="0" err="1">
                <a:latin typeface="Aptos" panose="020B0004020202020204" pitchFamily="34" charset="0"/>
              </a:rPr>
              <a:t>integridade</a:t>
            </a:r>
            <a:r>
              <a:rPr sz="1125" b="0" i="0" u="none" dirty="0">
                <a:latin typeface="Aptos" panose="020B0004020202020204" pitchFamily="34" charset="0"/>
              </a:rPr>
              <a:t> </a:t>
            </a:r>
            <a:r>
              <a:rPr sz="1125" b="0" i="0" u="none" dirty="0" err="1">
                <a:latin typeface="Aptos" panose="020B0004020202020204" pitchFamily="34" charset="0"/>
              </a:rPr>
              <a:t>referencial</a:t>
            </a:r>
            <a:r>
              <a:rPr sz="1125" b="0" i="0" u="none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3609975"/>
            <a:ext cx="135216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dirty="0" err="1">
                <a:solidFill>
                  <a:srgbClr val="0F172A"/>
                </a:solidFill>
                <a:latin typeface="Aptos" panose="020B0004020202020204" pitchFamily="34" charset="0"/>
              </a:rPr>
              <a:t>Restrições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3867150"/>
            <a:ext cx="461962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dirty="0" err="1">
                <a:latin typeface="Aptos" panose="020B0004020202020204" pitchFamily="34" charset="0"/>
              </a:rPr>
              <a:t>Limitação</a:t>
            </a:r>
            <a:r>
              <a:rPr sz="1125" dirty="0">
                <a:latin typeface="Aptos" panose="020B0004020202020204" pitchFamily="34" charset="0"/>
              </a:rPr>
              <a:t> de </a:t>
            </a:r>
            <a:r>
              <a:rPr sz="1125" dirty="0" err="1">
                <a:latin typeface="Aptos" panose="020B0004020202020204" pitchFamily="34" charset="0"/>
              </a:rPr>
              <a:t>valores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aceites</a:t>
            </a:r>
            <a:r>
              <a:rPr sz="1125" dirty="0">
                <a:latin typeface="Aptos" panose="020B0004020202020204" pitchFamily="34" charset="0"/>
              </a:rPr>
              <a:t> para </a:t>
            </a:r>
            <a:r>
              <a:rPr sz="1125" dirty="0" err="1">
                <a:latin typeface="Aptos" panose="020B0004020202020204" pitchFamily="34" charset="0"/>
              </a:rPr>
              <a:t>prioridade</a:t>
            </a:r>
            <a:r>
              <a:rPr sz="1125" dirty="0">
                <a:latin typeface="Aptos" panose="020B0004020202020204" pitchFamily="34" charset="0"/>
              </a:rPr>
              <a:t> ('Baixa','</a:t>
            </a:r>
            <a:r>
              <a:rPr sz="1125" dirty="0" err="1">
                <a:latin typeface="Aptos" panose="020B0004020202020204" pitchFamily="34" charset="0"/>
              </a:rPr>
              <a:t>Média</a:t>
            </a:r>
            <a:r>
              <a:rPr sz="1125" dirty="0">
                <a:latin typeface="Aptos" panose="020B0004020202020204" pitchFamily="34" charset="0"/>
              </a:rPr>
              <a:t>','Alta') e </a:t>
            </a:r>
            <a:r>
              <a:rPr sz="1125" dirty="0" err="1">
                <a:latin typeface="Aptos" panose="020B0004020202020204" pitchFamily="34" charset="0"/>
              </a:rPr>
              <a:t>estado</a:t>
            </a:r>
            <a:r>
              <a:rPr sz="1125" dirty="0">
                <a:latin typeface="Aptos" panose="020B0004020202020204" pitchFamily="34" charset="0"/>
              </a:rPr>
              <a:t> ('Por </a:t>
            </a:r>
            <a:r>
              <a:rPr sz="1125" dirty="0" err="1">
                <a:latin typeface="Aptos" panose="020B0004020202020204" pitchFamily="34" charset="0"/>
              </a:rPr>
              <a:t>fazer</a:t>
            </a:r>
            <a:r>
              <a:rPr sz="1125" dirty="0">
                <a:latin typeface="Aptos" panose="020B0004020202020204" pitchFamily="34" charset="0"/>
              </a:rPr>
              <a:t>','Em </a:t>
            </a:r>
            <a:r>
              <a:rPr sz="1125" dirty="0" err="1">
                <a:latin typeface="Aptos" panose="020B0004020202020204" pitchFamily="34" charset="0"/>
              </a:rPr>
              <a:t>curso</a:t>
            </a:r>
            <a:r>
              <a:rPr sz="1125" dirty="0">
                <a:latin typeface="Aptos" panose="020B0004020202020204" pitchFamily="34" charset="0"/>
              </a:rPr>
              <a:t>', </a:t>
            </a:r>
            <a:r>
              <a:rPr lang="pt-PT" sz="1125" dirty="0">
                <a:latin typeface="Aptos" panose="020B0004020202020204" pitchFamily="34" charset="0"/>
              </a:rPr>
              <a:t>‘Concluído’</a:t>
            </a:r>
            <a:r>
              <a:rPr sz="1125" dirty="0">
                <a:latin typeface="Aptos" panose="020B0004020202020204" pitchFamily="34" charset="0"/>
              </a:rPr>
              <a:t>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4419600"/>
            <a:ext cx="159447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Validação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350" b="1" dirty="0">
                <a:solidFill>
                  <a:srgbClr val="0F172A"/>
                </a:solidFill>
                <a:latin typeface="Aptos" panose="020B0004020202020204" pitchFamily="34" charset="0"/>
              </a:rPr>
              <a:t>de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Pertença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4900" y="4676775"/>
            <a:ext cx="461962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dirty="0">
                <a:latin typeface="Aptos" panose="020B0004020202020204" pitchFamily="34" charset="0"/>
              </a:rPr>
              <a:t>O </a:t>
            </a:r>
            <a:r>
              <a:rPr sz="1125" dirty="0" err="1">
                <a:latin typeface="Aptos" panose="020B0004020202020204" pitchFamily="34" charset="0"/>
              </a:rPr>
              <a:t>utilizador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responsável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por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uma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tarefa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tem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obrigatoriamente</a:t>
            </a:r>
            <a:r>
              <a:rPr sz="1125" dirty="0">
                <a:latin typeface="Aptos" panose="020B0004020202020204" pitchFamily="34" charset="0"/>
              </a:rPr>
              <a:t> de ser </a:t>
            </a:r>
            <a:r>
              <a:rPr sz="1125" dirty="0" err="1">
                <a:latin typeface="Aptos" panose="020B0004020202020204" pitchFamily="34" charset="0"/>
              </a:rPr>
              <a:t>membro</a:t>
            </a:r>
            <a:r>
              <a:rPr sz="1125" dirty="0">
                <a:latin typeface="Aptos" panose="020B0004020202020204" pitchFamily="34" charset="0"/>
              </a:rPr>
              <a:t> </a:t>
            </a:r>
            <a:r>
              <a:rPr sz="1125" dirty="0" err="1">
                <a:latin typeface="Aptos" panose="020B0004020202020204" pitchFamily="34" charset="0"/>
              </a:rPr>
              <a:t>ativo</a:t>
            </a:r>
            <a:r>
              <a:rPr sz="1125" dirty="0">
                <a:latin typeface="Aptos" panose="020B0004020202020204" pitchFamily="34" charset="0"/>
              </a:rPr>
              <a:t> do </a:t>
            </a:r>
            <a:r>
              <a:rPr sz="1125" dirty="0" err="1">
                <a:latin typeface="Aptos" panose="020B0004020202020204" pitchFamily="34" charset="0"/>
              </a:rPr>
              <a:t>projeto</a:t>
            </a:r>
            <a:r>
              <a:rPr sz="1125" dirty="0">
                <a:latin typeface="Aptos" panose="020B00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6250" y="1285875"/>
            <a:ext cx="10972800" cy="5364578"/>
          </a:xfrm>
          <a:prstGeom prst="roundRect">
            <a:avLst>
              <a:gd name="adj" fmla="val 118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48919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</a:t>
            </a:r>
            <a:r>
              <a:rPr lang="pt-PT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5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. BASE DE DADOS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439049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DDL: </a:t>
            </a:r>
            <a:r>
              <a:rPr sz="24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Tabelas</a:t>
            </a:r>
            <a:r>
              <a:rPr sz="24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'users' e 'projects'</a:t>
            </a:r>
            <a:endParaRPr sz="2700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473763"/>
            <a:ext cx="10610850" cy="4988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F8FAFC"/>
                </a:solidFill>
                <a:latin typeface="JetBrains Mono"/>
              </a:rPr>
              <a:t>CREATE DATABASE </a:t>
            </a:r>
            <a:r>
              <a:rPr sz="1050" b="0" i="0" u="none" dirty="0" err="1">
                <a:solidFill>
                  <a:srgbClr val="F8FAFC"/>
                </a:solidFill>
                <a:latin typeface="JetBrains Mono"/>
              </a:rPr>
              <a:t>taskflowdb</a:t>
            </a:r>
            <a:r>
              <a:rPr lang="pt-PT" sz="1050" b="0" i="0" u="none" dirty="0">
                <a:solidFill>
                  <a:srgbClr val="F8FAFC"/>
                </a:solidFill>
                <a:latin typeface="JetBrains Mono"/>
              </a:rPr>
              <a:t>_</a:t>
            </a:r>
            <a:r>
              <a:rPr lang="pt-PT" sz="1050" b="0" i="0" u="none" dirty="0" err="1">
                <a:solidFill>
                  <a:srgbClr val="F8FAFC"/>
                </a:solidFill>
                <a:latin typeface="JetBrains Mono"/>
              </a:rPr>
              <a:t>at</a:t>
            </a:r>
            <a:r>
              <a:rPr sz="1050" b="0" i="0" u="none" dirty="0">
                <a:solidFill>
                  <a:srgbClr val="F8FAFC"/>
                </a:solidFill>
                <a:latin typeface="JetBrains Mono"/>
              </a:rPr>
              <a:t>; </a:t>
            </a:r>
            <a:endParaRPr lang="pt-PT" sz="1050" b="0" i="0" u="none" dirty="0">
              <a:solidFill>
                <a:srgbClr val="F8FAFC"/>
              </a:solidFill>
              <a:latin typeface="JetBrains Mono"/>
            </a:endParaRPr>
          </a:p>
          <a:p>
            <a:pPr>
              <a:lnSpc>
                <a:spcPts val="1522"/>
              </a:lnSpc>
            </a:pP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create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table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users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id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generated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always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as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identity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primary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key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name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(120)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email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(255)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unique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password_hash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(255)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is_active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boolean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true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created_at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now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updated_at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now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()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);</a:t>
            </a:r>
            <a:endParaRPr lang="pt-PT" sz="1050" b="0" i="0" u="none" dirty="0">
              <a:solidFill>
                <a:srgbClr val="F8FAFC"/>
              </a:solidFill>
              <a:latin typeface="JetBrains Mono"/>
            </a:endParaRP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create table projects(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d 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generated always as identity primary key,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name varchar(160) not null,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description text,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status varchar(20) not null default 'active'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check(status in('active', 'completed', 'archived')),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created_by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not null references users(id),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created_at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not null default now(),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updated_at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not null default now(),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archived_at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check(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	  (status = 'archived' and 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archived_at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is not null)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	  or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	  (status &lt;&gt; 'archived' and </a:t>
            </a:r>
            <a:r>
              <a:rPr lang="en-US" sz="1050" dirty="0" err="1">
                <a:solidFill>
                  <a:srgbClr val="F8FAFC"/>
                </a:solidFill>
                <a:latin typeface="JetBrains Mono"/>
              </a:rPr>
              <a:t>archived_at</a:t>
            </a:r>
            <a:r>
              <a:rPr lang="en-US" sz="1050" dirty="0">
                <a:solidFill>
                  <a:srgbClr val="F8FAFC"/>
                </a:solidFill>
                <a:latin typeface="JetBrains Mono"/>
              </a:rPr>
              <a:t> is null)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	)</a:t>
            </a:r>
          </a:p>
          <a:p>
            <a:pPr>
              <a:lnSpc>
                <a:spcPts val="1522"/>
              </a:lnSpc>
            </a:pPr>
            <a:r>
              <a:rPr lang="en-US" sz="1050" dirty="0">
                <a:solidFill>
                  <a:srgbClr val="F8FAFC"/>
                </a:solidFill>
                <a:latin typeface="JetBrains Mono"/>
              </a:rPr>
              <a:t>	);</a:t>
            </a:r>
            <a:endParaRPr sz="1050" b="0" i="0" u="none" dirty="0">
              <a:solidFill>
                <a:srgbClr val="F8FAFC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6250" y="1091381"/>
            <a:ext cx="10972800" cy="5545393"/>
          </a:xfrm>
          <a:prstGeom prst="roundRect">
            <a:avLst>
              <a:gd name="adj" fmla="val 118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332431"/>
            <a:ext cx="238366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</a:t>
            </a:r>
            <a:r>
              <a:rPr lang="pt-PT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. ESQUEMA RELACIONAL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" y="569358"/>
            <a:ext cx="569348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Aptos" panose="020B0004020202020204" pitchFamily="34" charset="0"/>
              </a:rPr>
              <a:t>DDL: </a:t>
            </a:r>
            <a:r>
              <a:rPr sz="2400" b="1" dirty="0" err="1">
                <a:solidFill>
                  <a:srgbClr val="0F172A"/>
                </a:solidFill>
                <a:latin typeface="Aptos" panose="020B0004020202020204" pitchFamily="34" charset="0"/>
              </a:rPr>
              <a:t>Tabelas</a:t>
            </a:r>
            <a:r>
              <a:rPr sz="2400" b="1" dirty="0">
                <a:solidFill>
                  <a:srgbClr val="0F172A"/>
                </a:solidFill>
                <a:latin typeface="Aptos" panose="020B0004020202020204" pitchFamily="34" charset="0"/>
              </a:rPr>
              <a:t> '</a:t>
            </a:r>
            <a:r>
              <a:rPr sz="2400" b="1" dirty="0" err="1">
                <a:solidFill>
                  <a:srgbClr val="0F172A"/>
                </a:solidFill>
                <a:latin typeface="Aptos" panose="020B0004020202020204" pitchFamily="34" charset="0"/>
              </a:rPr>
              <a:t>project_members</a:t>
            </a:r>
            <a:r>
              <a:rPr sz="2400" b="1" dirty="0">
                <a:solidFill>
                  <a:srgbClr val="0F172A"/>
                </a:solidFill>
                <a:latin typeface="Aptos" panose="020B0004020202020204" pitchFamily="34" charset="0"/>
              </a:rPr>
              <a:t>' e 'tasks'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924" y="1273496"/>
            <a:ext cx="10610850" cy="5181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22"/>
              </a:lnSpc>
            </a:pP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create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table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project_members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project_id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references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projects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(id)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on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delete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cascade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user_id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references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users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(id)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on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delete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cascade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role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(20)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member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’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check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(role in('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owner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member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')),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joined_at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now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primary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key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project_id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user_id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)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);</a:t>
            </a:r>
          </a:p>
          <a:p>
            <a:pPr>
              <a:lnSpc>
                <a:spcPts val="1522"/>
              </a:lnSpc>
            </a:pP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create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table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tasks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id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generated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always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as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identity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primary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key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project_id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references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projects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(id)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on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delete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cascade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title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(200)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description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text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category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(30)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planning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check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category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in(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		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planning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'research', 'design',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		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development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validation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documentation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		)),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priority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(10)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medium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check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priority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in('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low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medium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high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')),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status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varchar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(20)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to_do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’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check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(status in (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to_do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in_progress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completed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', '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blocked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’ )),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assigned_to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references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users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(id),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created_by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bigint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references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users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(id),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due_date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created_at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now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updated_at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null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default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now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(),</a:t>
            </a:r>
          </a:p>
          <a:p>
            <a:pPr>
              <a:lnSpc>
                <a:spcPts val="1522"/>
              </a:lnSpc>
            </a:pPr>
            <a:r>
              <a:rPr lang="pt-PT" sz="1050" dirty="0">
                <a:solidFill>
                  <a:srgbClr val="F8FAFC"/>
                </a:solidFill>
                <a:latin typeface="JetBrains Mono"/>
              </a:rPr>
              <a:t>		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completed_at</a:t>
            </a:r>
            <a:r>
              <a:rPr lang="pt-PT" sz="1050" dirty="0">
                <a:solidFill>
                  <a:srgbClr val="F8FAFC"/>
                </a:solidFill>
                <a:latin typeface="JetBrains Mono"/>
              </a:rPr>
              <a:t> </a:t>
            </a:r>
            <a:r>
              <a:rPr lang="pt-PT" sz="1050" dirty="0" err="1">
                <a:solidFill>
                  <a:srgbClr val="F8FAFC"/>
                </a:solidFill>
                <a:latin typeface="JetBrains Mono"/>
              </a:rPr>
              <a:t>timestamptz</a:t>
            </a:r>
            <a:endParaRPr sz="1050" b="0" i="0" u="none" dirty="0">
              <a:solidFill>
                <a:srgbClr val="F8FAFC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2586037"/>
            <a:ext cx="5067300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90887"/>
            <a:ext cx="5067300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95737"/>
            <a:ext cx="5067300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700587"/>
            <a:ext cx="5067300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47962"/>
            <a:ext cx="200025" cy="228600"/>
          </a:xfrm>
          <a:prstGeom prst="rect">
            <a:avLst/>
          </a:prstGeom>
          <a:noFill/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452812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15766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862512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06439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</a:t>
            </a:r>
            <a:r>
              <a:rPr lang="pt-PT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7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. VERIFICAÇÃO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95162"/>
            <a:ext cx="344914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Aptos" panose="020B0004020202020204" pitchFamily="34" charset="0"/>
              </a:rPr>
              <a:t>Checklist do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3557587"/>
            <a:ext cx="59436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Cifragem de Credenciais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2762250"/>
            <a:ext cx="34887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latin typeface="Aptos" panose="020B0004020202020204" pitchFamily="34" charset="0"/>
              </a:rPr>
              <a:t>Criar</a:t>
            </a:r>
            <a:r>
              <a:rPr sz="1200" b="1" i="0" u="none" dirty="0">
                <a:latin typeface="Aptos" panose="020B0004020202020204" pitchFamily="34" charset="0"/>
              </a:rPr>
              <a:t> e </a:t>
            </a:r>
            <a:r>
              <a:rPr sz="1200" b="1" i="0" u="none" dirty="0" err="1">
                <a:latin typeface="Aptos" panose="020B0004020202020204" pitchFamily="34" charset="0"/>
              </a:rPr>
              <a:t>selecionar</a:t>
            </a:r>
            <a:r>
              <a:rPr sz="1200" b="1" i="0" u="none" dirty="0">
                <a:latin typeface="Aptos" panose="020B0004020202020204" pitchFamily="34" charset="0"/>
              </a:rPr>
              <a:t> a base de dados '</a:t>
            </a:r>
            <a:r>
              <a:rPr sz="1200" b="1" i="0" u="none" dirty="0" err="1">
                <a:latin typeface="Aptos" panose="020B0004020202020204" pitchFamily="34" charset="0"/>
              </a:rPr>
              <a:t>taskflowdb</a:t>
            </a:r>
            <a:r>
              <a:rPr lang="pt-PT" sz="1200" b="1" i="0" u="none" dirty="0">
                <a:latin typeface="Aptos" panose="020B0004020202020204" pitchFamily="34" charset="0"/>
              </a:rPr>
              <a:t>_</a:t>
            </a:r>
            <a:r>
              <a:rPr lang="pt-PT" sz="1200" b="1" i="0" u="none" dirty="0" err="1">
                <a:latin typeface="Aptos" panose="020B0004020202020204" pitchFamily="34" charset="0"/>
              </a:rPr>
              <a:t>at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3467100"/>
            <a:ext cx="31817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 err="1">
                <a:latin typeface="Aptos" panose="020B0004020202020204" pitchFamily="34" charset="0"/>
              </a:rPr>
              <a:t>Executar</a:t>
            </a:r>
            <a:r>
              <a:rPr sz="1200" b="1" dirty="0">
                <a:latin typeface="Aptos" panose="020B0004020202020204" pitchFamily="34" charset="0"/>
              </a:rPr>
              <a:t> scripts DDL no </a:t>
            </a:r>
            <a:r>
              <a:rPr sz="1200" b="1" dirty="0" err="1">
                <a:latin typeface="Aptos" panose="020B0004020202020204" pitchFamily="34" charset="0"/>
              </a:rPr>
              <a:t>pgAdmin</a:t>
            </a:r>
            <a:r>
              <a:rPr sz="1200" b="1" dirty="0">
                <a:latin typeface="Aptos" panose="020B0004020202020204" pitchFamily="34" charset="0"/>
              </a:rPr>
              <a:t> / </a:t>
            </a:r>
            <a:r>
              <a:rPr lang="pt-PT" sz="1200" b="1" dirty="0" err="1">
                <a:latin typeface="Aptos" panose="020B0004020202020204" pitchFamily="34" charset="0"/>
              </a:rPr>
              <a:t>Query</a:t>
            </a:r>
            <a:r>
              <a:rPr lang="pt-PT" sz="1200" b="1" dirty="0">
                <a:latin typeface="Aptos" panose="020B0004020202020204" pitchFamily="34" charset="0"/>
              </a:rPr>
              <a:t> </a:t>
            </a:r>
            <a:r>
              <a:rPr lang="pt-PT" sz="1200" b="1" dirty="0" err="1">
                <a:latin typeface="Aptos" panose="020B0004020202020204" pitchFamily="34" charset="0"/>
              </a:rPr>
              <a:t>tool</a:t>
            </a:r>
            <a:endParaRPr sz="1200" b="1" dirty="0">
              <a:latin typeface="Aptos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62050" y="4171950"/>
            <a:ext cx="31178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dirty="0">
                <a:latin typeface="Aptos" panose="020B0004020202020204" pitchFamily="34" charset="0"/>
              </a:rPr>
              <a:t>Validar PKs, FKs, </a:t>
            </a:r>
            <a:r>
              <a:rPr sz="1200" b="1" dirty="0" err="1">
                <a:latin typeface="Aptos" panose="020B0004020202020204" pitchFamily="34" charset="0"/>
              </a:rPr>
              <a:t>Índices</a:t>
            </a:r>
            <a:r>
              <a:rPr sz="1200" b="1" dirty="0">
                <a:latin typeface="Aptos" panose="020B0004020202020204" pitchFamily="34" charset="0"/>
              </a:rPr>
              <a:t> e </a:t>
            </a:r>
            <a:r>
              <a:rPr sz="1200" b="1" dirty="0" err="1">
                <a:latin typeface="Aptos" panose="020B0004020202020204" pitchFamily="34" charset="0"/>
              </a:rPr>
              <a:t>restrições</a:t>
            </a:r>
            <a:r>
              <a:rPr sz="1200" b="1" dirty="0">
                <a:latin typeface="Aptos" panose="020B0004020202020204" pitchFamily="34" charset="0"/>
              </a:rPr>
              <a:t>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876800"/>
            <a:ext cx="39028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dirty="0" err="1">
                <a:latin typeface="Aptos" panose="020B0004020202020204" pitchFamily="34" charset="0"/>
              </a:rPr>
              <a:t>Inserir</a:t>
            </a:r>
            <a:r>
              <a:rPr sz="1200" b="1" dirty="0">
                <a:latin typeface="Aptos" panose="020B0004020202020204" pitchFamily="34" charset="0"/>
              </a:rPr>
              <a:t> dados de teste </a:t>
            </a:r>
            <a:r>
              <a:rPr sz="1200" b="1" dirty="0" err="1">
                <a:latin typeface="Aptos" panose="020B0004020202020204" pitchFamily="34" charset="0"/>
              </a:rPr>
              <a:t>mantendo</a:t>
            </a:r>
            <a:r>
              <a:rPr sz="1200" b="1" dirty="0">
                <a:latin typeface="Aptos" panose="020B0004020202020204" pitchFamily="34" charset="0"/>
              </a:rPr>
              <a:t> </a:t>
            </a:r>
            <a:r>
              <a:rPr sz="1200" b="1" dirty="0" err="1">
                <a:latin typeface="Aptos" panose="020B0004020202020204" pitchFamily="34" charset="0"/>
              </a:rPr>
              <a:t>ordem</a:t>
            </a:r>
            <a:r>
              <a:rPr sz="1200" b="1" dirty="0">
                <a:latin typeface="Aptos" panose="020B0004020202020204" pitchFamily="34" charset="0"/>
              </a:rPr>
              <a:t> de </a:t>
            </a:r>
            <a:r>
              <a:rPr sz="1200" b="1" dirty="0" err="1">
                <a:latin typeface="Aptos" panose="020B0004020202020204" pitchFamily="34" charset="0"/>
              </a:rPr>
              <a:t>dependência</a:t>
            </a:r>
            <a:endParaRPr sz="12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2395537"/>
            <a:ext cx="5105400" cy="676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224212"/>
            <a:ext cx="5105400" cy="676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052887"/>
            <a:ext cx="5105400" cy="676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395537"/>
            <a:ext cx="38100" cy="676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224212"/>
            <a:ext cx="38100" cy="676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4052887"/>
            <a:ext cx="38100" cy="676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63025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PT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08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. </a:t>
            </a:r>
            <a:r>
              <a:rPr lang="pt-PT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Arquitetura 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440370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Estrutura</a:t>
            </a:r>
            <a:r>
              <a:rPr sz="27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do </a:t>
            </a:r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Projecto</a:t>
            </a:r>
            <a:r>
              <a:rPr sz="27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Nuxt</a:t>
            </a:r>
            <a:r>
              <a:rPr sz="270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10421"/>
            <a:ext cx="520065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F8FAFC"/>
                </a:solidFill>
                <a:latin typeface="JetBrains Mono"/>
              </a:rPr>
              <a:t>taskflow-frontend/ ├── app/ │ ├── app.vue │ ├── pages/ │ │ ├── index.vue # Dashboard │ │ ├── projects.vue # Gestão de projetos │ │ └── tasks.vue # Filtro de tarefas │ └── assets/css/main.css ├── nuxt.config.ts └── .env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7937"/>
            <a:ext cx="66691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Aptos" panose="020B0004020202020204" pitchFamily="34" charset="0"/>
              </a:rPr>
              <a:t>index.vue</a:t>
            </a:r>
            <a:endParaRPr sz="1200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2747962"/>
            <a:ext cx="304891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latin typeface="Aptos" panose="020B0004020202020204" pitchFamily="34" charset="0"/>
              </a:rPr>
              <a:t>Dashboard </a:t>
            </a:r>
            <a:r>
              <a:rPr sz="1050" b="0" i="0" u="none" dirty="0" err="1">
                <a:latin typeface="Aptos" panose="020B0004020202020204" pitchFamily="34" charset="0"/>
              </a:rPr>
              <a:t>inicial</a:t>
            </a:r>
            <a:r>
              <a:rPr sz="1050" b="0" i="0" u="none" dirty="0">
                <a:latin typeface="Aptos" panose="020B0004020202020204" pitchFamily="34" charset="0"/>
              </a:rPr>
              <a:t> e </a:t>
            </a:r>
            <a:r>
              <a:rPr sz="1050" b="0" i="0" u="none" dirty="0" err="1">
                <a:latin typeface="Aptos" panose="020B0004020202020204" pitchFamily="34" charset="0"/>
              </a:rPr>
              <a:t>resumo</a:t>
            </a:r>
            <a:r>
              <a:rPr sz="1050" b="0" i="0" u="none" dirty="0">
                <a:latin typeface="Aptos" panose="020B0004020202020204" pitchFamily="34" charset="0"/>
              </a:rPr>
              <a:t> </a:t>
            </a:r>
            <a:r>
              <a:rPr sz="1050" b="0" i="0" u="none" dirty="0" err="1">
                <a:latin typeface="Aptos" panose="020B0004020202020204" pitchFamily="34" charset="0"/>
              </a:rPr>
              <a:t>estatístico</a:t>
            </a:r>
            <a:r>
              <a:rPr sz="1050" b="0" i="0" u="none" dirty="0">
                <a:latin typeface="Aptos" panose="020B0004020202020204" pitchFamily="34" charset="0"/>
              </a:rPr>
              <a:t> do </a:t>
            </a:r>
            <a:r>
              <a:rPr sz="1050" b="0" i="0" u="none" dirty="0" err="1">
                <a:latin typeface="Aptos" panose="020B0004020202020204" pitchFamily="34" charset="0"/>
              </a:rPr>
              <a:t>progresso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376612"/>
            <a:ext cx="86267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dirty="0" err="1">
                <a:solidFill>
                  <a:srgbClr val="0F172A"/>
                </a:solidFill>
                <a:latin typeface="Aptos" panose="020B0004020202020204" pitchFamily="34" charset="0"/>
              </a:rPr>
              <a:t>projects.vue</a:t>
            </a:r>
            <a:endParaRPr sz="12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3576637"/>
            <a:ext cx="324928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dirty="0" err="1">
                <a:latin typeface="Aptos" panose="020B0004020202020204" pitchFamily="34" charset="0"/>
              </a:rPr>
              <a:t>Formulários</a:t>
            </a:r>
            <a:r>
              <a:rPr sz="1050" dirty="0">
                <a:latin typeface="Aptos" panose="020B0004020202020204" pitchFamily="34" charset="0"/>
              </a:rPr>
              <a:t> de </a:t>
            </a:r>
            <a:r>
              <a:rPr sz="1050" dirty="0" err="1">
                <a:latin typeface="Aptos" panose="020B0004020202020204" pitchFamily="34" charset="0"/>
              </a:rPr>
              <a:t>criação</a:t>
            </a:r>
            <a:r>
              <a:rPr sz="1050" dirty="0">
                <a:latin typeface="Aptos" panose="020B0004020202020204" pitchFamily="34" charset="0"/>
              </a:rPr>
              <a:t> e </a:t>
            </a:r>
            <a:r>
              <a:rPr sz="1050" dirty="0" err="1">
                <a:latin typeface="Aptos" panose="020B0004020202020204" pitchFamily="34" charset="0"/>
              </a:rPr>
              <a:t>listagem</a:t>
            </a:r>
            <a:r>
              <a:rPr sz="1050" dirty="0">
                <a:latin typeface="Aptos" panose="020B0004020202020204" pitchFamily="34" charset="0"/>
              </a:rPr>
              <a:t> </a:t>
            </a:r>
            <a:r>
              <a:rPr sz="1050" dirty="0" err="1">
                <a:latin typeface="Aptos" panose="020B0004020202020204" pitchFamily="34" charset="0"/>
              </a:rPr>
              <a:t>dinâmica</a:t>
            </a:r>
            <a:r>
              <a:rPr sz="1050" dirty="0">
                <a:latin typeface="Aptos" panose="020B0004020202020204" pitchFamily="34" charset="0"/>
              </a:rPr>
              <a:t> de </a:t>
            </a:r>
            <a:r>
              <a:rPr sz="1050" dirty="0" err="1">
                <a:latin typeface="Aptos" panose="020B0004020202020204" pitchFamily="34" charset="0"/>
              </a:rPr>
              <a:t>projetos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205287"/>
            <a:ext cx="6639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dirty="0" err="1">
                <a:solidFill>
                  <a:srgbClr val="0F172A"/>
                </a:solidFill>
                <a:latin typeface="Aptos" panose="020B0004020202020204" pitchFamily="34" charset="0"/>
              </a:rPr>
              <a:t>tasks.vue</a:t>
            </a:r>
            <a:endParaRPr sz="12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" y="4405312"/>
            <a:ext cx="315631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dirty="0" err="1">
                <a:latin typeface="Aptos" panose="020B0004020202020204" pitchFamily="34" charset="0"/>
              </a:rPr>
              <a:t>Visualização</a:t>
            </a:r>
            <a:r>
              <a:rPr sz="1050" dirty="0">
                <a:latin typeface="Aptos" panose="020B0004020202020204" pitchFamily="34" charset="0"/>
              </a:rPr>
              <a:t> </a:t>
            </a:r>
            <a:r>
              <a:rPr sz="1050" dirty="0" err="1">
                <a:latin typeface="Aptos" panose="020B0004020202020204" pitchFamily="34" charset="0"/>
              </a:rPr>
              <a:t>detalhada</a:t>
            </a:r>
            <a:r>
              <a:rPr sz="1050" dirty="0">
                <a:latin typeface="Aptos" panose="020B0004020202020204" pitchFamily="34" charset="0"/>
              </a:rPr>
              <a:t>, </a:t>
            </a:r>
            <a:r>
              <a:rPr sz="1050" dirty="0" err="1">
                <a:latin typeface="Aptos" panose="020B0004020202020204" pitchFamily="34" charset="0"/>
              </a:rPr>
              <a:t>atribuição</a:t>
            </a:r>
            <a:r>
              <a:rPr sz="1050" dirty="0">
                <a:latin typeface="Aptos" panose="020B0004020202020204" pitchFamily="34" charset="0"/>
              </a:rPr>
              <a:t> e </a:t>
            </a:r>
            <a:r>
              <a:rPr sz="1050" dirty="0" err="1">
                <a:latin typeface="Aptos" panose="020B0004020202020204" pitchFamily="34" charset="0"/>
              </a:rPr>
              <a:t>filtros</a:t>
            </a:r>
            <a:r>
              <a:rPr sz="1050" dirty="0">
                <a:latin typeface="Aptos" panose="020B0004020202020204" pitchFamily="34" charset="0"/>
              </a:rPr>
              <a:t> </a:t>
            </a:r>
            <a:r>
              <a:rPr sz="1050" dirty="0" err="1">
                <a:latin typeface="Aptos" panose="020B0004020202020204" pitchFamily="34" charset="0"/>
              </a:rPr>
              <a:t>por</a:t>
            </a:r>
            <a:r>
              <a:rPr sz="1050" dirty="0">
                <a:latin typeface="Aptos" panose="020B0004020202020204" pitchFamily="34" charset="0"/>
              </a:rPr>
              <a:t> </a:t>
            </a:r>
            <a:r>
              <a:rPr sz="1050" dirty="0" err="1">
                <a:latin typeface="Aptos" panose="020B0004020202020204" pitchFamily="34" charset="0"/>
              </a:rPr>
              <a:t>estado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71601"/>
            <a:ext cx="10972800" cy="2552104"/>
          </a:xfrm>
          <a:prstGeom prst="roundRect">
            <a:avLst>
              <a:gd name="adj" fmla="val 118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114204"/>
            <a:ext cx="3555950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7950" y="4114204"/>
            <a:ext cx="3555950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4114204"/>
            <a:ext cx="3555950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54369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PT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09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. COMUNICAÇÃO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5556521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Configuração</a:t>
            </a:r>
            <a:r>
              <a:rPr sz="2700" b="1" dirty="0">
                <a:solidFill>
                  <a:srgbClr val="0F172A"/>
                </a:solidFill>
                <a:latin typeface="Aptos" panose="020B0004020202020204" pitchFamily="34" charset="0"/>
              </a:rPr>
              <a:t> da </a:t>
            </a:r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Ligação</a:t>
            </a:r>
            <a:r>
              <a:rPr sz="2700" b="1" dirty="0">
                <a:solidFill>
                  <a:srgbClr val="0F172A"/>
                </a:solidFill>
                <a:latin typeface="Aptos" panose="020B0004020202020204" pitchFamily="34" charset="0"/>
              </a:rPr>
              <a:t> </a:t>
            </a:r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Nuxt</a:t>
            </a:r>
            <a:r>
              <a:rPr sz="2700" b="1" dirty="0">
                <a:solidFill>
                  <a:srgbClr val="0F172A"/>
                </a:solidFill>
                <a:latin typeface="Aptos" panose="020B0004020202020204" pitchFamily="34" charset="0"/>
              </a:rPr>
              <a:t> →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25" y="1535508"/>
            <a:ext cx="10610850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// https://nuxt.com/docs/api/configuration/nuxt-config</a:t>
            </a:r>
          </a:p>
          <a:p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export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default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defineNuxtConfig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({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compatibilityDate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: '2025-07-15',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devtools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: {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enabled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: false },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css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: ['~/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assets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/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css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/main.css'],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runtimeConfig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: {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 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public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: {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    </a:t>
            </a:r>
            <a:r>
              <a:rPr lang="pt-PT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apiBase</a:t>
            </a:r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: 'http://127.0.0.1:8000'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  }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  }</a:t>
            </a:r>
          </a:p>
          <a:p>
            <a:r>
              <a:rPr lang="pt-PT" sz="1200" dirty="0">
                <a:solidFill>
                  <a:schemeClr val="bg1"/>
                </a:solidFill>
                <a:latin typeface="Aptos" panose="020B0004020202020204" pitchFamily="34" charset="0"/>
              </a:rPr>
              <a:t>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266604"/>
            <a:ext cx="334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1</a:t>
            </a:r>
            <a:r>
              <a:rPr sz="1050" b="1" i="0" u="none" dirty="0">
                <a:solidFill>
                  <a:srgbClr val="0F172A"/>
                </a:solidFill>
                <a:latin typeface="Aptos" panose="020B0004020202020204" pitchFamily="34" charset="0"/>
              </a:rPr>
              <a:t>. API 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0350" y="4266604"/>
            <a:ext cx="334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 panose="020B0004020202020204" pitchFamily="34" charset="0"/>
              </a:rPr>
              <a:t>2. </a:t>
            </a:r>
            <a:r>
              <a:rPr sz="1050" b="1" dirty="0" err="1">
                <a:solidFill>
                  <a:srgbClr val="0F172A"/>
                </a:solidFill>
                <a:latin typeface="Aptos" panose="020B0004020202020204" pitchFamily="34" charset="0"/>
              </a:rPr>
              <a:t>Configuração</a:t>
            </a:r>
            <a:r>
              <a:rPr sz="1050" b="1" dirty="0">
                <a:solidFill>
                  <a:srgbClr val="0F172A"/>
                </a:solidFill>
                <a:latin typeface="Aptos" panose="020B0004020202020204" pitchFamily="34" charset="0"/>
              </a:rPr>
              <a:t> CORS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8700" y="4266604"/>
            <a:ext cx="334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dirty="0">
                <a:solidFill>
                  <a:srgbClr val="0F172A"/>
                </a:solidFill>
                <a:latin typeface="Aptos" panose="020B0004020202020204" pitchFamily="34" charset="0"/>
              </a:rPr>
              <a:t>3. </a:t>
            </a:r>
            <a:r>
              <a:rPr sz="1050" b="1" dirty="0" err="1">
                <a:solidFill>
                  <a:srgbClr val="0F172A"/>
                </a:solidFill>
                <a:latin typeface="Aptos" panose="020B0004020202020204" pitchFamily="34" charset="0"/>
              </a:rPr>
              <a:t>Tratamento</a:t>
            </a:r>
            <a:r>
              <a:rPr sz="1050" b="1" dirty="0">
                <a:solidFill>
                  <a:srgbClr val="0F172A"/>
                </a:solidFill>
                <a:latin typeface="Aptos" panose="020B0004020202020204" pitchFamily="34" charset="0"/>
              </a:rPr>
              <a:t> de </a:t>
            </a:r>
            <a:r>
              <a:rPr sz="1050" b="1" dirty="0" err="1">
                <a:solidFill>
                  <a:srgbClr val="0F172A"/>
                </a:solidFill>
                <a:latin typeface="Aptos" panose="020B0004020202020204" pitchFamily="34" charset="0"/>
              </a:rPr>
              <a:t>Estados</a:t>
            </a:r>
            <a:endParaRPr sz="105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0" y="4504729"/>
            <a:ext cx="208390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 err="1">
                <a:latin typeface="Aptos" panose="020B0004020202020204" pitchFamily="34" charset="0"/>
              </a:rPr>
              <a:t>FastAPI</a:t>
            </a:r>
            <a:r>
              <a:rPr sz="975" b="0" i="0" u="none" dirty="0">
                <a:latin typeface="Aptos" panose="020B0004020202020204" pitchFamily="34" charset="0"/>
              </a:rPr>
              <a:t> </a:t>
            </a:r>
            <a:r>
              <a:rPr sz="975" b="0" i="0" u="none" dirty="0" err="1">
                <a:latin typeface="Aptos" panose="020B0004020202020204" pitchFamily="34" charset="0"/>
              </a:rPr>
              <a:t>disponível</a:t>
            </a:r>
            <a:r>
              <a:rPr sz="975" b="0" i="0" u="none" dirty="0">
                <a:latin typeface="Aptos" panose="020B0004020202020204" pitchFamily="34" charset="0"/>
              </a:rPr>
              <a:t> </a:t>
            </a:r>
            <a:r>
              <a:rPr sz="975" b="0" i="0" u="none" dirty="0" err="1">
                <a:latin typeface="Aptos" panose="020B0004020202020204" pitchFamily="34" charset="0"/>
              </a:rPr>
              <a:t>na</a:t>
            </a:r>
            <a:r>
              <a:rPr sz="975" b="0" i="0" u="none" dirty="0">
                <a:latin typeface="Aptos" panose="020B0004020202020204" pitchFamily="34" charset="0"/>
              </a:rPr>
              <a:t> porta local 8000.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0350" y="4504729"/>
            <a:ext cx="2595262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975" dirty="0" err="1">
                <a:latin typeface="Aptos" panose="020B0004020202020204" pitchFamily="34" charset="0"/>
              </a:rPr>
              <a:t>Permitir</a:t>
            </a:r>
            <a:r>
              <a:rPr sz="975" dirty="0">
                <a:latin typeface="Aptos" panose="020B0004020202020204" pitchFamily="34" charset="0"/>
              </a:rPr>
              <a:t> </a:t>
            </a:r>
            <a:r>
              <a:rPr sz="975" dirty="0" err="1">
                <a:latin typeface="Aptos" panose="020B0004020202020204" pitchFamily="34" charset="0"/>
              </a:rPr>
              <a:t>pedidos</a:t>
            </a:r>
            <a:r>
              <a:rPr sz="975" dirty="0">
                <a:latin typeface="Aptos" panose="020B0004020202020204" pitchFamily="34" charset="0"/>
              </a:rPr>
              <a:t> da </a:t>
            </a:r>
            <a:r>
              <a:rPr sz="975" dirty="0" err="1">
                <a:latin typeface="Aptos" panose="020B0004020202020204" pitchFamily="34" charset="0"/>
              </a:rPr>
              <a:t>origem</a:t>
            </a:r>
            <a:r>
              <a:rPr sz="975" dirty="0">
                <a:latin typeface="Aptos" panose="020B0004020202020204" pitchFamily="34" charset="0"/>
              </a:rPr>
              <a:t> local do </a:t>
            </a:r>
            <a:r>
              <a:rPr sz="975" dirty="0" err="1">
                <a:latin typeface="Aptos" panose="020B0004020202020204" pitchFamily="34" charset="0"/>
              </a:rPr>
              <a:t>Nuxt</a:t>
            </a:r>
            <a:r>
              <a:rPr sz="975" dirty="0">
                <a:latin typeface="Aptos" panose="020B0004020202020204" pitchFamily="34" charset="0"/>
              </a:rPr>
              <a:t> (3000).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700" y="4504729"/>
            <a:ext cx="24525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dirty="0" err="1">
                <a:latin typeface="Aptos" panose="020B0004020202020204" pitchFamily="34" charset="0"/>
              </a:rPr>
              <a:t>Gerir</a:t>
            </a:r>
            <a:r>
              <a:rPr sz="975" dirty="0">
                <a:latin typeface="Aptos" panose="020B0004020202020204" pitchFamily="34" charset="0"/>
              </a:rPr>
              <a:t> </a:t>
            </a:r>
            <a:r>
              <a:rPr sz="975" dirty="0" err="1">
                <a:latin typeface="Aptos" panose="020B0004020202020204" pitchFamily="34" charset="0"/>
              </a:rPr>
              <a:t>carregamento</a:t>
            </a:r>
            <a:r>
              <a:rPr sz="975" dirty="0">
                <a:latin typeface="Aptos" panose="020B0004020202020204" pitchFamily="34" charset="0"/>
              </a:rPr>
              <a:t>, </a:t>
            </a:r>
            <a:r>
              <a:rPr sz="975" dirty="0" err="1">
                <a:latin typeface="Aptos" panose="020B0004020202020204" pitchFamily="34" charset="0"/>
              </a:rPr>
              <a:t>erros</a:t>
            </a:r>
            <a:r>
              <a:rPr sz="975" dirty="0">
                <a:latin typeface="Aptos" panose="020B0004020202020204" pitchFamily="34" charset="0"/>
              </a:rPr>
              <a:t> e </a:t>
            </a:r>
            <a:r>
              <a:rPr sz="975" dirty="0" err="1">
                <a:latin typeface="Aptos" panose="020B0004020202020204" pitchFamily="34" charset="0"/>
              </a:rPr>
              <a:t>listas</a:t>
            </a:r>
            <a:r>
              <a:rPr sz="975" dirty="0">
                <a:latin typeface="Aptos" panose="020B0004020202020204" pitchFamily="34" charset="0"/>
              </a:rPr>
              <a:t> </a:t>
            </a:r>
            <a:r>
              <a:rPr sz="975" dirty="0" err="1">
                <a:latin typeface="Aptos" panose="020B0004020202020204" pitchFamily="34" charset="0"/>
              </a:rPr>
              <a:t>sem</a:t>
            </a:r>
            <a:r>
              <a:rPr sz="975" dirty="0">
                <a:latin typeface="Aptos" panose="020B0004020202020204" pitchFamily="34" charset="0"/>
              </a:rPr>
              <a:t> dados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55977" y="3490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32546" y="34528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43298" y="346233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4775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</a:t>
            </a:r>
            <a:r>
              <a:rPr lang="pt-PT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.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07918"/>
            <a:ext cx="438158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Ordem</a:t>
            </a:r>
            <a:r>
              <a:rPr sz="2700" b="1" dirty="0">
                <a:solidFill>
                  <a:srgbClr val="0F172A"/>
                </a:solidFill>
                <a:latin typeface="Aptos" panose="020B0004020202020204" pitchFamily="34" charset="0"/>
              </a:rPr>
              <a:t> de </a:t>
            </a:r>
            <a:r>
              <a:rPr sz="2700" b="1" dirty="0" err="1">
                <a:solidFill>
                  <a:srgbClr val="0F172A"/>
                </a:solidFill>
                <a:latin typeface="Aptos" panose="020B0004020202020204" pitchFamily="34" charset="0"/>
              </a:rPr>
              <a:t>Desenvolvimento</a:t>
            </a:r>
            <a:endParaRPr sz="27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13102" y="3627179"/>
            <a:ext cx="7429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2868" y="4062412"/>
            <a:ext cx="54341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latin typeface="Aptos" panose="020B0004020202020204" pitchFamily="34" charset="0"/>
              </a:rPr>
              <a:t>Modelar</a:t>
            </a:r>
            <a:endParaRPr sz="1125" b="1" i="0" u="none" dirty="0">
              <a:latin typeface="Aptos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28710" y="4281487"/>
            <a:ext cx="71173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>
                <a:latin typeface="Aptos" panose="020B0004020202020204" pitchFamily="34" charset="0"/>
              </a:rPr>
              <a:t>ER &amp; </a:t>
            </a:r>
            <a:r>
              <a:rPr sz="900" b="0" i="0" u="none" dirty="0" err="1">
                <a:latin typeface="Aptos" panose="020B0004020202020204" pitchFamily="34" charset="0"/>
              </a:rPr>
              <a:t>Atributos</a:t>
            </a:r>
            <a:endParaRPr sz="900" b="0" i="0" u="none" dirty="0"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9671" y="345281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2537" y="4053502"/>
            <a:ext cx="288043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solidFill>
                  <a:srgbClr val="0F172A"/>
                </a:solidFill>
                <a:latin typeface="Plus Jakarta Sans"/>
              </a:rPr>
              <a:t>Criar</a:t>
            </a:r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8604" y="4272577"/>
            <a:ext cx="58830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dirty="0">
                <a:latin typeface="Aptos" panose="020B0004020202020204" pitchFamily="34" charset="0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4212" y="3455576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4628" y="3938588"/>
            <a:ext cx="288043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Testar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3677" y="4157663"/>
            <a:ext cx="82234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dirty="0">
                <a:latin typeface="Aptos" panose="020B0004020202020204" pitchFamily="34" charset="0"/>
              </a:rPr>
              <a:t>Massa de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1873" y="3627179"/>
            <a:ext cx="7429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200" b="1" i="0" u="none" dirty="0">
                <a:solidFill>
                  <a:srgbClr val="FFFFFF"/>
                </a:solidFill>
                <a:latin typeface="Plus Jakarta Sans"/>
              </a:rPr>
              <a:t>04</a:t>
            </a:r>
            <a:endParaRPr sz="1200" b="1" i="0" u="none" dirty="0">
              <a:solidFill>
                <a:srgbClr val="FFFFFF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57612" y="4505325"/>
            <a:ext cx="1695450" cy="3714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5462" y="4505325"/>
            <a:ext cx="1381125" cy="3714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8987" y="4505325"/>
            <a:ext cx="1295400" cy="3714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51707" y="2819400"/>
            <a:ext cx="868858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Próximos Passos do 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6468" y="3552825"/>
            <a:ext cx="773906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Confirmar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o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esquema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PostgreSQL,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testar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os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endpoints da API e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conectar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progressivamente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as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páginas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de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projetos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 e </a:t>
            </a:r>
            <a:r>
              <a:rPr sz="1500" b="0" i="0" u="none" dirty="0" err="1">
                <a:solidFill>
                  <a:schemeClr val="bg1"/>
                </a:solidFill>
                <a:latin typeface="Aptos" panose="020B0004020202020204" pitchFamily="34" charset="0"/>
              </a:rPr>
              <a:t>tarefas</a:t>
            </a:r>
            <a:r>
              <a:rPr sz="1500" b="0" i="0" u="none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4281" y="4600575"/>
            <a:ext cx="166211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solidFill>
                  <a:schemeClr val="bg1"/>
                </a:solidFill>
                <a:latin typeface="Plus Jakarta Sans"/>
              </a:rPr>
              <a:t>PostgreSQ</a:t>
            </a:r>
            <a:r>
              <a:rPr lang="pt-PT" sz="1125" b="1" dirty="0">
                <a:solidFill>
                  <a:schemeClr val="bg1"/>
                </a:solidFill>
                <a:latin typeface="Plus Jakarta Sans"/>
              </a:rPr>
              <a:t>L</a:t>
            </a:r>
            <a:endParaRPr sz="1125" b="1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1421" y="4600575"/>
            <a:ext cx="1269206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solidFill>
                  <a:schemeClr val="bg1"/>
                </a:solidFill>
                <a:latin typeface="Plus Jakarta Sans"/>
              </a:rPr>
              <a:t>FastAPI</a:t>
            </a:r>
            <a:endParaRPr sz="1125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05662" y="4600575"/>
            <a:ext cx="11620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solidFill>
                  <a:schemeClr val="bg1"/>
                </a:solidFill>
                <a:latin typeface="Plus Jakarta Sans"/>
              </a:rPr>
              <a:t>Nuxt</a:t>
            </a:r>
            <a:r>
              <a:rPr sz="1125" b="1" i="0" u="none" dirty="0">
                <a:solidFill>
                  <a:srgbClr val="38BDF8"/>
                </a:solidFill>
                <a:latin typeface="Plus Jakarta Sans"/>
              </a:rPr>
              <a:t> </a:t>
            </a:r>
            <a:r>
              <a:rPr sz="1125" b="1" i="0" u="none" dirty="0">
                <a:solidFill>
                  <a:schemeClr val="bg1"/>
                </a:solidFill>
                <a:latin typeface="Plus Jakarta San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1202</Words>
  <Application>Microsoft Office PowerPoint</Application>
  <PresentationFormat>Ecrã Panorâmico</PresentationFormat>
  <Paragraphs>164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7" baseType="lpstr">
      <vt:lpstr>Plus Jakarta Sans</vt:lpstr>
      <vt:lpstr>Aptos</vt:lpstr>
      <vt:lpstr>JetBrains Mono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neves</cp:lastModifiedBy>
  <cp:revision>4</cp:revision>
  <dcterms:created xsi:type="dcterms:W3CDTF">2013-01-27T09:14:16Z</dcterms:created>
  <dcterms:modified xsi:type="dcterms:W3CDTF">2026-10-27T12:55:12Z</dcterms:modified>
  <cp:category/>
</cp:coreProperties>
</file>