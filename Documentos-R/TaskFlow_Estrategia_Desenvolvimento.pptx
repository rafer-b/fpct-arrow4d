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822960"/>
            <a:ext cx="4572000" cy="4572000"/>
          </a:xfrm>
          <a:prstGeom prst="ellipse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"/>
            <a:ext cx="3200400" cy="320040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48640"/>
            <a:ext cx="1920240" cy="1920240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005840"/>
            <a:ext cx="1005840" cy="1005840"/>
          </a:xfrm>
          <a:prstGeom prst="ellipse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24128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24D5D2"/>
                </a:solidFill>
                <a:latin typeface="Aptos"/>
              </a:rPr>
              <a:t>PLANO DE PRODUTO E IMPLEMENTAÇÃO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658368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F6F9FF"/>
                </a:solidFill>
                <a:latin typeface="Aptos"/>
              </a:rPr>
              <a:t>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7498079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500" b="0">
                <a:solidFill>
                  <a:srgbClr val="AEBCD3"/>
                </a:solidFill>
                <a:latin typeface="Aptos"/>
              </a:rPr>
              <a:t>Estratégia de Desenvolvimento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7472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F6F9FF"/>
                </a:solidFill>
                <a:latin typeface="Aptos"/>
              </a:rPr>
              <a:t>O que construir • como organizar • como validar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297680"/>
            <a:ext cx="4846320" cy="566928"/>
          </a:xfrm>
          <a:prstGeom prst="round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62272"/>
            <a:ext cx="457200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24D5D2"/>
                </a:solidFill>
                <a:latin typeface="Aptos"/>
              </a:rPr>
              <a:t>NUXT 4   •   FASTAPI   •  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989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AEBCD3"/>
                </a:solidFill>
                <a:latin typeface="Aptos"/>
              </a:rPr>
              <a:t>[Nome / equipa]  •  [Curso / instituição]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01 · 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O que vamos construir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Uma plataforma web para organizar projetos académicos e trabalhos de grupo.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205740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68580" cy="205740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865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Centralizar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3044952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Projetos, tarefas, prazos e prioridades num espaço comum.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205740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240280"/>
            <a:ext cx="68580" cy="205740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865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Clarificar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34640"/>
            <a:ext cx="3044952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Quem é responsável por cada tarefa e qual o próximo passo.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429000" cy="205740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240280"/>
            <a:ext cx="68580" cy="205740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865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Acompanhar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34640"/>
            <a:ext cx="3044952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Estados e indicadores simples para tornar o progresso visível.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F6F9FF"/>
                </a:solidFill>
                <a:latin typeface="Aptos"/>
              </a:rPr>
              <a:t>Objetivo: menos dispersão da informação e maior previsibilidade na execução.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02 · PÚBLICO E DOMÍNIO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Feito para o contexto académico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Foco no ensino superior e na formação profissional avançada.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606040" cy="19202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8580" cy="192024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23744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6F9FF"/>
                </a:solidFill>
                <a:latin typeface="Aptos"/>
              </a:rPr>
              <a:t>INVESTIGAÇÃO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2221992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Pesquisa, análise e redação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377440"/>
            <a:ext cx="2606040" cy="19202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377440"/>
            <a:ext cx="68580" cy="192024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523744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6F9FF"/>
                </a:solidFill>
                <a:latin typeface="Aptos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971800"/>
            <a:ext cx="2221992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Requisitos, implementação e testes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377440"/>
            <a:ext cx="2606040" cy="19202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377440"/>
            <a:ext cx="68580" cy="192024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2523744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6F9FF"/>
                </a:solidFill>
                <a:latin typeface="Aptos"/>
              </a:rPr>
              <a:t>SEMINÁRIOS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2971800"/>
            <a:ext cx="2221992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Conteúdos, diapositivos e ensaios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377440"/>
            <a:ext cx="2606040" cy="19202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72600" y="2377440"/>
            <a:ext cx="68580" cy="192024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2523744"/>
            <a:ext cx="2240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6F9FF"/>
                </a:solidFill>
                <a:latin typeface="Aptos"/>
              </a:rPr>
              <a:t>ESTUDOS DE CASO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2971800"/>
            <a:ext cx="2221992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Execução, análise e relatório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0241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0">
                <a:solidFill>
                  <a:srgbClr val="AEBCD3"/>
                </a:solidFill>
                <a:latin typeface="Aptos"/>
              </a:rPr>
              <a:t>Utilizadores previstos: estudantes e membros de equipas académicas.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03 ·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O que a aplicação vai permitir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Funcionalidades essenciais do MVP.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128016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68580" cy="128016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Projetos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06040"/>
            <a:ext cx="3044952" cy="5943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Criar, consultar, editar e arquivar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29000" cy="128016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68580" cy="128016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1579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Tarefas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606040"/>
            <a:ext cx="3044952" cy="5943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Criar, atualizar e associar a projetos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429000" cy="128016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68580" cy="128016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1579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Responsáveis e prazos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606040"/>
            <a:ext cx="3044952" cy="5943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Atribuir pessoas e datas limite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3429000" cy="128016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11880"/>
            <a:ext cx="68580" cy="12801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7581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Prioridades e estados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206240"/>
            <a:ext cx="3044952" cy="5943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Baixa/média/alta; por iniciar, em curso, concluída ou bloqueada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11880"/>
            <a:ext cx="3429000" cy="128016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611880"/>
            <a:ext cx="68580" cy="1280160"/>
          </a:xfrm>
          <a:prstGeom prst="rect">
            <a:avLst/>
          </a:prstGeom>
          <a:solidFill>
            <a:srgbClr val="FF6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7581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Filtros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206240"/>
            <a:ext cx="3044952" cy="5943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Projeto, estado, prioridade e responsável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611880"/>
            <a:ext cx="3429000" cy="128016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611880"/>
            <a:ext cx="68580" cy="128016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75818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Progresso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206240"/>
            <a:ext cx="3044952" cy="5943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Totais e percentagem de conclusão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77840"/>
            <a:ext cx="103327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4D5D2"/>
                </a:solidFill>
                <a:latin typeface="Aptos"/>
              </a:rPr>
              <a:t>Autenticação e persistência em PostgreSQL fazem parte do âmbito previsto.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04 ·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Três camadas, responsabilidades claras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Cada componente faz uma parte do trabalho.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2971800" cy="1874519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438912" cy="438912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438912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606040"/>
            <a:ext cx="1965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6F9FF"/>
                </a:solidFill>
                <a:latin typeface="Aptos"/>
              </a:rPr>
              <a:t>Nuxt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5146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AEBCD3"/>
                </a:solidFill>
                <a:latin typeface="Aptos"/>
              </a:rPr>
              <a:t>Interface, páginas,</a:t>
            </a:r>
          </a:p>
          <a:p>
            <a:pPr algn="ctr"/>
            <a:r>
              <a:rPr sz="1400" b="0">
                <a:solidFill>
                  <a:srgbClr val="AEBCD3"/>
                </a:solidFill>
                <a:latin typeface="Aptos"/>
              </a:rPr>
              <a:t>formulários e navegação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423160"/>
            <a:ext cx="2971800" cy="1874519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2606040"/>
            <a:ext cx="438912" cy="438912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79192"/>
            <a:ext cx="438912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606040"/>
            <a:ext cx="1965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6F9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46120"/>
            <a:ext cx="25146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AEBCD3"/>
                </a:solidFill>
                <a:latin typeface="Aptos"/>
              </a:rPr>
              <a:t>API REST, validação,</a:t>
            </a:r>
          </a:p>
          <a:p>
            <a:pPr algn="ctr"/>
            <a:r>
              <a:rPr sz="1400" b="0">
                <a:solidFill>
                  <a:srgbClr val="AEBCD3"/>
                </a:solidFill>
                <a:latin typeface="Aptos"/>
              </a:rPr>
              <a:t>regras de negócio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423160"/>
            <a:ext cx="2971800" cy="1874519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59" y="2606040"/>
            <a:ext cx="438912" cy="438912"/>
          </a:xfrm>
          <a:prstGeom prst="ellipse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59" y="2679192"/>
            <a:ext cx="438912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06040"/>
            <a:ext cx="1965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6F9FF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246120"/>
            <a:ext cx="25146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AEBCD3"/>
                </a:solidFill>
                <a:latin typeface="Aptos"/>
              </a:rPr>
              <a:t>Tabelas relacionais,</a:t>
            </a:r>
          </a:p>
          <a:p>
            <a:pPr algn="ctr"/>
            <a:r>
              <a:rPr sz="1400" b="0">
                <a:solidFill>
                  <a:srgbClr val="AEBCD3"/>
                </a:solidFill>
                <a:latin typeface="Aptos"/>
              </a:rPr>
              <a:t>integridade e persistência</a:t>
            </a:r>
          </a:p>
        </p:txBody>
      </p:sp>
      <p:sp>
        <p:nvSpPr>
          <p:cNvPr id="22" name="Chevron 21"/>
          <p:cNvSpPr/>
          <p:nvPr/>
        </p:nvSpPr>
        <p:spPr>
          <a:xfrm>
            <a:off x="3977639" y="3063240"/>
            <a:ext cx="438912" cy="502920"/>
          </a:xfrm>
          <a:prstGeom prst="chevron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7772400" y="3063240"/>
            <a:ext cx="438912" cy="502920"/>
          </a:xfrm>
          <a:prstGeom prst="chevron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24D5D2"/>
                </a:solidFill>
                <a:latin typeface="Aptos"/>
              </a:rPr>
              <a:t>Nuxt → HTTP/JSON → FastAPI → SQL → PostgreSQL → resposta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05 · PLANO DE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Desenvolvimento faseado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Validar cada etapa antes de iniciar a seguinte.</a:t>
            </a:r>
          </a:p>
        </p:txBody>
      </p:sp>
      <p:sp>
        <p:nvSpPr>
          <p:cNvPr id="7" name="Oval 6"/>
          <p:cNvSpPr/>
          <p:nvPr/>
        </p:nvSpPr>
        <p:spPr>
          <a:xfrm>
            <a:off x="1225295" y="2331720"/>
            <a:ext cx="594360" cy="59436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5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Preparar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Pastas, versões e dependências</a:t>
            </a:r>
          </a:p>
        </p:txBody>
      </p:sp>
      <p:sp>
        <p:nvSpPr>
          <p:cNvPr id="12" name="Oval 11"/>
          <p:cNvSpPr/>
          <p:nvPr/>
        </p:nvSpPr>
        <p:spPr>
          <a:xfrm>
            <a:off x="3529584" y="2331720"/>
            <a:ext cx="594360" cy="594360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PostgreSQL e relações</a:t>
            </a:r>
          </a:p>
        </p:txBody>
      </p:sp>
      <p:sp>
        <p:nvSpPr>
          <p:cNvPr id="17" name="Oval 16"/>
          <p:cNvSpPr/>
          <p:nvPr/>
        </p:nvSpPr>
        <p:spPr>
          <a:xfrm>
            <a:off x="5833872" y="2331720"/>
            <a:ext cx="594360" cy="594360"/>
          </a:xfrm>
          <a:prstGeom prst="ellipse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7376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CRUD de projetos</a:t>
            </a:r>
          </a:p>
        </p:txBody>
      </p:sp>
      <p:sp>
        <p:nvSpPr>
          <p:cNvPr id="22" name="Oval 21"/>
          <p:cNvSpPr/>
          <p:nvPr/>
        </p:nvSpPr>
        <p:spPr>
          <a:xfrm>
            <a:off x="8138160" y="2331720"/>
            <a:ext cx="594360" cy="594360"/>
          </a:xfrm>
          <a:prstGeom prst="ellipse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41664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2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Tarefas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CRUD, estados e filtros</a:t>
            </a:r>
          </a:p>
        </p:txBody>
      </p:sp>
      <p:sp>
        <p:nvSpPr>
          <p:cNvPr id="27" name="Oval 26"/>
          <p:cNvSpPr/>
          <p:nvPr/>
        </p:nvSpPr>
        <p:spPr>
          <a:xfrm>
            <a:off x="10442448" y="2331720"/>
            <a:ext cx="594360" cy="594360"/>
          </a:xfrm>
          <a:prstGeom prst="ellipse">
            <a:avLst/>
          </a:prstGeom>
          <a:solidFill>
            <a:srgbClr val="FF6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Páginas e formulários Nuxt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6F9FF"/>
                </a:solidFill>
                <a:latin typeface="Aptos"/>
              </a:rPr>
              <a:t>A sequência reduz riscos e facilita a aprendizagem e a depuração.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05 · PLANO DE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Depois do núcleo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Completar a experiência, proteger os dados e validar o resultado.</a:t>
            </a:r>
          </a:p>
        </p:txBody>
      </p:sp>
      <p:sp>
        <p:nvSpPr>
          <p:cNvPr id="7" name="Oval 6"/>
          <p:cNvSpPr/>
          <p:nvPr/>
        </p:nvSpPr>
        <p:spPr>
          <a:xfrm>
            <a:off x="1225295" y="2331720"/>
            <a:ext cx="594360" cy="59436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5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Filtros e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Pesquisa, erros e carregamento</a:t>
            </a:r>
          </a:p>
        </p:txBody>
      </p:sp>
      <p:sp>
        <p:nvSpPr>
          <p:cNvPr id="12" name="Oval 11"/>
          <p:cNvSpPr/>
          <p:nvPr/>
        </p:nvSpPr>
        <p:spPr>
          <a:xfrm>
            <a:off x="3529584" y="2331720"/>
            <a:ext cx="594360" cy="594360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Indicadores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Totais e percentagem concluída</a:t>
            </a:r>
          </a:p>
        </p:txBody>
      </p:sp>
      <p:sp>
        <p:nvSpPr>
          <p:cNvPr id="17" name="Oval 16"/>
          <p:cNvSpPr/>
          <p:nvPr/>
        </p:nvSpPr>
        <p:spPr>
          <a:xfrm>
            <a:off x="5833872" y="2331720"/>
            <a:ext cx="594360" cy="594360"/>
          </a:xfrm>
          <a:prstGeom prst="ellipse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7376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Autenticação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Login e regras de acesso</a:t>
            </a:r>
          </a:p>
        </p:txBody>
      </p:sp>
      <p:sp>
        <p:nvSpPr>
          <p:cNvPr id="22" name="Oval 21"/>
          <p:cNvSpPr/>
          <p:nvPr/>
        </p:nvSpPr>
        <p:spPr>
          <a:xfrm>
            <a:off x="8138160" y="2331720"/>
            <a:ext cx="594360" cy="594360"/>
          </a:xfrm>
          <a:prstGeom prst="ellipse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41664" y="2606040"/>
            <a:ext cx="1143000" cy="27432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2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Testes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Fluxos completos e persistência</a:t>
            </a:r>
          </a:p>
        </p:txBody>
      </p:sp>
      <p:sp>
        <p:nvSpPr>
          <p:cNvPr id="27" name="Oval 26"/>
          <p:cNvSpPr/>
          <p:nvPr/>
        </p:nvSpPr>
        <p:spPr>
          <a:xfrm>
            <a:off x="10442448" y="2331720"/>
            <a:ext cx="594360" cy="594360"/>
          </a:xfrm>
          <a:prstGeom prst="ellipse">
            <a:avLst/>
          </a:prstGeom>
          <a:solidFill>
            <a:srgbClr val="FF6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2404872"/>
            <a:ext cx="5943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15468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Entrega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61188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Documentação e demonstração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24D5D2"/>
                </a:solidFill>
                <a:latin typeface="Aptos"/>
              </a:rPr>
              <a:t>A autenticação será implementada após estabilizar os fluxos principais.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06 ·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Como os dados se relacionam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Começamos com projetos e tarefas; utilizadores serão integrados na fase de autenticação.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4206240" cy="141732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148840"/>
            <a:ext cx="68580" cy="141732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295144"/>
            <a:ext cx="38404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6F9FF"/>
                </a:solidFill>
                <a:latin typeface="Aptos"/>
              </a:rPr>
              <a:t>PROJETOS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743200"/>
            <a:ext cx="3822191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ID • nome • descrição • data de criação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4206240" cy="141732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68580" cy="141732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295144"/>
            <a:ext cx="38404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6F9FF"/>
                </a:solidFill>
                <a:latin typeface="Aptos"/>
              </a:rPr>
              <a:t>TAREFAS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743200"/>
            <a:ext cx="3822191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Projeto • título • responsável • prazo</a:t>
            </a:r>
          </a:p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prioridade • estado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788920" y="3657600"/>
            <a:ext cx="502920" cy="685800"/>
          </a:xfrm>
          <a:prstGeom prst="downArrow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9875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6F9FF"/>
                </a:solidFill>
                <a:latin typeface="Aptos"/>
              </a:rPr>
              <a:t>Relação: um projeto pode conter várias tarefas.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Antes de alterar tabelas existentes, inspecionar o esquema atual e preservar os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07 ·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Como vamos validar cada fase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Não basta o código executar: é preciso confirmar o comportamento.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074920" cy="12344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8580" cy="123444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9514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43200"/>
            <a:ext cx="469087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Testar pedidos e respostas em /docs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074920" cy="12344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68580" cy="123444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29514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743200"/>
            <a:ext cx="469087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Confirmar registos e relações no 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03320"/>
            <a:ext cx="5074920" cy="12344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03320"/>
            <a:ext cx="68580" cy="123444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84962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297680"/>
            <a:ext cx="469087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Verificar formulários, filtros e mensagens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074920" cy="123444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68580" cy="123444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84962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Persistência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297680"/>
            <a:ext cx="469087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AEBCD3"/>
                </a:solidFill>
                <a:latin typeface="Aptos"/>
              </a:rPr>
              <a:t>Reiniciar serviços e confirmar que os dados permanecem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AEBCD3"/>
                </a:solidFill>
                <a:latin typeface="Aptos"/>
              </a:rPr>
              <a:t>A meta de resposta inferior a 200 ms deve ser medida em condições definidas.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08 · DELIMITAÇÃO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O que fica fora do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Manter o foco nas necessidades centrais.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120640" cy="246888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8580" cy="24688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95144"/>
            <a:ext cx="47548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6F9FF"/>
                </a:solidFill>
                <a:latin typeface="Aptos"/>
              </a:rPr>
              <a:t>FORA DO ÂMBITO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43200"/>
            <a:ext cx="4736592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• Gestão financeira e faturação</a:t>
            </a:r>
          </a:p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• Construção, indústria e logística</a:t>
            </a:r>
          </a:p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• Gestão empresarial avançada de RH/vendas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120640" cy="246888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68580" cy="2468880"/>
          </a:xfrm>
          <a:prstGeom prst="rect">
            <a:avLst/>
          </a:prstGeom>
          <a:solidFill>
            <a:srgbClr val="FF6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295144"/>
            <a:ext cx="47548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6F9FF"/>
                </a:solidFill>
                <a:latin typeface="Aptos"/>
              </a:rPr>
              <a:t>ADIADO PARA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43200"/>
            <a:ext cx="4736592" cy="1783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• Chat em tempo real e videochamadas</a:t>
            </a:r>
          </a:p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• Integrações externas complexas</a:t>
            </a:r>
          </a:p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• Supervisão/avaliação formal por docentes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4D5D2"/>
                </a:solidFill>
                <a:latin typeface="Aptos"/>
              </a:rPr>
              <a:t>Qualquer extensão deve ser avaliada depois de o MVP estar validado.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09 · RISCOS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Prevenir problemas desde o início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A estratégia privilegia alterações pequenas e verificáveis.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5074920" cy="132588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68580" cy="1325880"/>
          </a:xfrm>
          <a:prstGeom prst="rect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0370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Código existente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51760"/>
            <a:ext cx="469087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Inspecionar e testar antes de editar; evitar substituir ficheiros inteiros.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074920" cy="132588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68580" cy="1325880"/>
          </a:xfrm>
          <a:prstGeom prst="rect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20370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Credenciais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651760"/>
            <a:ext cx="469087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Guardar segredos em .env e nunca partilhar palavras-passe.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5074920" cy="132588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68580" cy="1325880"/>
          </a:xfrm>
          <a:prstGeom prst="rect">
            <a:avLst/>
          </a:prstGeom>
          <a:solidFill>
            <a:srgbClr val="4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80390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Contrato API/interface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251960"/>
            <a:ext cx="469087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Uniformizar nomes de campos, estados e formato 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074920" cy="1325880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68580" cy="13258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0390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Segurança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51960"/>
            <a:ext cx="469087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AEBCD3"/>
                </a:solidFill>
                <a:latin typeface="Aptos"/>
              </a:rPr>
              <a:t>Proteger dados e testar permissões quando houver autenticação.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9144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4D5D2"/>
                </a:solidFill>
                <a:latin typeface="Aptos"/>
              </a:rPr>
              <a:t>10 ·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28600"/>
            <a:ext cx="4114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>
                <a:solidFill>
                  <a:srgbClr val="AEBCD3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22860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Começar com uma base sólida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AEBCD3"/>
                </a:solidFill>
                <a:latin typeface="Aptos"/>
              </a:rPr>
              <a:t>Primeiras ações concretas antes de desenvolver novos módulos.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241280" cy="475488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29968"/>
            <a:ext cx="9784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6F9FF"/>
                </a:solidFill>
                <a:latin typeface="Aptos"/>
              </a:rPr>
              <a:t>1. Inspecionar a estrutura atual das duas pastas.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78608"/>
            <a:ext cx="10241280" cy="475488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88336"/>
            <a:ext cx="9784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2. Confirmar versões, dependências e comandos de execução.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36976"/>
            <a:ext cx="10241280" cy="475488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46704"/>
            <a:ext cx="9784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3. Testar a ligação ao PostgreSQL e listar endpoints existentes.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95344"/>
            <a:ext cx="10241280" cy="475488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05072"/>
            <a:ext cx="9784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4. Validar o esquema das tabelas projects e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53712"/>
            <a:ext cx="10241280" cy="475488"/>
          </a:xfrm>
          <a:prstGeom prst="round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63440"/>
            <a:ext cx="97840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5. Implementar e testar o módulo de projetos de ponta a ponta.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24D5D2"/>
                </a:solidFill>
                <a:latin typeface="Aptos"/>
              </a:rPr>
              <a:t>Objetivo final: um MVP demonstrável, documentado e testado.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3566160"/>
            <a:ext cx="4114800" cy="4114800"/>
          </a:xfrm>
          <a:prstGeom prst="ellipse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206240"/>
            <a:ext cx="2651760" cy="2651760"/>
          </a:xfrm>
          <a:prstGeom prst="ellipse">
            <a:avLst/>
          </a:prstGeom>
          <a:solidFill>
            <a:srgbClr val="3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21240" y="4800600"/>
            <a:ext cx="1463040" cy="1463040"/>
          </a:xfrm>
          <a:prstGeom prst="ellipse">
            <a:avLst/>
          </a:prstGeom>
          <a:solidFill>
            <a:srgbClr val="24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24D5D2"/>
                </a:solidFill>
                <a:latin typeface="Aptos"/>
              </a:rPr>
              <a:t>TASKFLOW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86384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F6F9FF"/>
                </a:solidFill>
                <a:latin typeface="Aptos"/>
              </a:rPr>
              <a:t>Organizar melhor.</a:t>
            </a:r>
          </a:p>
          <a:p>
            <a:pPr algn="l"/>
            <a:r>
              <a:rPr sz="3400" b="1">
                <a:solidFill>
                  <a:srgbClr val="F6F9FF"/>
                </a:solidFill>
                <a:latin typeface="Aptos"/>
              </a:rPr>
              <a:t>Colaborar com clareza.</a:t>
            </a:r>
          </a:p>
          <a:p>
            <a:pPr algn="l"/>
            <a:r>
              <a:rPr sz="3400" b="1">
                <a:solidFill>
                  <a:srgbClr val="F6F9FF"/>
                </a:solidFill>
                <a:latin typeface="Aptos"/>
              </a:rPr>
              <a:t>Acompanhar o progresso.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7315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AEBCD3"/>
                </a:solidFill>
                <a:latin typeface="Aptos"/>
              </a:rPr>
              <a:t>Uma implementação faseada, com foco no essencial e validação contínua.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2743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4D5D2"/>
                </a:solidFill>
                <a:latin typeface="Aptos"/>
              </a:rPr>
              <a:t>Obrigado/a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