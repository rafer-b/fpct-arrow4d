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6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58200" y="1005840"/>
            <a:ext cx="2926080" cy="4892040"/>
          </a:xfrm>
          <a:prstGeom prst="roundRect">
            <a:avLst>
              <a:gd name="adj" fmla="val 12000"/>
            </a:avLst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68512" y="1234440"/>
            <a:ext cx="2505456" cy="43891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23960" y="132588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22444"/>
                </a:solidFill>
                <a:latin typeface="Aptos"/>
              </a:defRPr>
            </a:pPr>
            <a:r>
              <a:t>TaskFlow  •  Painel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68512" y="1874519"/>
            <a:ext cx="74980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41664" y="2029968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7796"/>
                </a:solidFill>
                <a:latin typeface="Aptos"/>
              </a:defRPr>
            </a:pPr>
            <a:r>
              <a:t>Projetos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4" y="2304288"/>
            <a:ext cx="594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C70E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91472" y="1874519"/>
            <a:ext cx="74980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64624" y="2029968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7796"/>
                </a:solidFill>
                <a:latin typeface="Aptos"/>
              </a:defRPr>
            </a:pPr>
            <a:r>
              <a:t>Tarefas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4624" y="2304288"/>
            <a:ext cx="594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0AA7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14432" y="1874519"/>
            <a:ext cx="74980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87584" y="2029968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7796"/>
                </a:solidFill>
                <a:latin typeface="Aptos"/>
              </a:defRPr>
            </a:pPr>
            <a:r>
              <a:t>Concluídas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7584" y="2304288"/>
            <a:ext cx="594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835BD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0632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Tarefas recentes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359359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52044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3450"/>
                </a:solidFill>
                <a:latin typeface="Aptos"/>
              </a:defRPr>
            </a:pPr>
            <a:r>
              <a:t>Estudar Nuxt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3831336"/>
            <a:ext cx="1783080" cy="22860"/>
          </a:xfrm>
          <a:prstGeom prst="rect">
            <a:avLst/>
          </a:prstGeom>
          <a:solidFill>
            <a:srgbClr val="E2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59952" y="4160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ED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4087368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3450"/>
                </a:solidFill>
                <a:latin typeface="Aptos"/>
              </a:defRPr>
            </a:pPr>
            <a:r>
              <a:t>Criar página inicial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4398264"/>
            <a:ext cx="1783080" cy="22860"/>
          </a:xfrm>
          <a:prstGeom prst="rect">
            <a:avLst/>
          </a:prstGeom>
          <a:solidFill>
            <a:srgbClr val="E2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59952" y="472744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4654296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3450"/>
                </a:solidFill>
                <a:latin typeface="Aptos"/>
              </a:defRPr>
            </a:pPr>
            <a:r>
              <a:t>Preparar documentação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4965192"/>
            <a:ext cx="1783080" cy="22860"/>
          </a:xfrm>
          <a:prstGeom prst="rect">
            <a:avLst/>
          </a:prstGeom>
          <a:solidFill>
            <a:srgbClr val="E2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68512" y="5440680"/>
            <a:ext cx="2505456" cy="2560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1051560"/>
            <a:ext cx="6309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9AC2FF"/>
                </a:solidFill>
                <a:latin typeface="Aptos"/>
              </a:defRPr>
            </a:pPr>
            <a:r>
              <a:t>PROJETO DE DESENVOLVIMENTO 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1828800"/>
            <a:ext cx="649224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TaskFlow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2816352"/>
            <a:ext cx="6492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D5E4FA"/>
                </a:solidFill>
                <a:latin typeface="Aptos"/>
              </a:defRPr>
            </a:pPr>
            <a:r>
              <a:t>Gestão de tarefas e projetos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3822191"/>
            <a:ext cx="61264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Uma aplicação web para organizar trabalho, acompanhar prazos e visualizar o progresso — com Nuxt, FastAPI e PostgreSQL.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" y="5074920"/>
            <a:ext cx="1508760" cy="411480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166360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MINI-PROJETO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6263640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DBFDC"/>
                </a:solidFill>
                <a:latin typeface="Aptos"/>
              </a:defRPr>
            </a:pPr>
            <a:r>
              <a:t>Proposta inicial •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1. O problema e a oportunidade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Porque faz sentido criar o TaskFlow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2444"/>
                </a:solidFill>
                <a:latin typeface="Aptos"/>
              </a:defRPr>
            </a:pPr>
            <a:r>
              <a:t>Desafios do dia a 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80720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427024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450"/>
                </a:solidFill>
                <a:latin typeface="Aptos"/>
              </a:defRPr>
            </a:pPr>
            <a:r>
              <a:t>Tarefas espalhadas por notas, mensagens e folhas de cálculo.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50215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392424"/>
            <a:ext cx="427024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450"/>
                </a:solidFill>
                <a:latin typeface="Aptos"/>
              </a:defRPr>
            </a:pPr>
            <a:r>
              <a:t>Dificuldade em perceber o que é prioritário.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19709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87368"/>
            <a:ext cx="427024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450"/>
                </a:solidFill>
                <a:latin typeface="Aptos"/>
              </a:defRPr>
            </a:pPr>
            <a:r>
              <a:t>Prazos esquecidos e progresso pouco visível.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89204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82312"/>
            <a:ext cx="427024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450"/>
                </a:solidFill>
                <a:latin typeface="Aptos"/>
              </a:defRPr>
            </a:pPr>
            <a:r>
              <a:t>Falta de uma visão conjunta por projeto.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2444"/>
                </a:solidFill>
                <a:latin typeface="Aptos"/>
              </a:defRPr>
            </a:pPr>
            <a:r>
              <a:t>Oportunidade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280720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697480"/>
            <a:ext cx="427024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450"/>
                </a:solidFill>
                <a:latin typeface="Aptos"/>
              </a:defRPr>
            </a:pPr>
            <a:r>
              <a:t>Reunir projetos e tarefas num único espaço.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1968" y="350215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392424"/>
            <a:ext cx="427024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450"/>
                </a:solidFill>
                <a:latin typeface="Aptos"/>
              </a:defRPr>
            </a:pPr>
            <a:r>
              <a:t>Tornar prioridades e prazos fáceis de consultar.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1968" y="419709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087368"/>
            <a:ext cx="427024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450"/>
                </a:solidFill>
                <a:latin typeface="Aptos"/>
              </a:defRPr>
            </a:pPr>
            <a:r>
              <a:t>Acompanhar o estado de cada tarefa.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1968" y="489204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782312"/>
            <a:ext cx="427024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450"/>
                </a:solidFill>
                <a:latin typeface="Aptos"/>
              </a:defRPr>
            </a:pPr>
            <a:r>
              <a:t>Criar uma base simples que possa evoluir.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44768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Foco: resolver um problema concreto antes de acrescentar funcionalidades avançadas.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2. Objetivos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Uma primeira versão pequena, útil e demonstrável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011680"/>
            <a:ext cx="39776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22444"/>
                </a:solidFill>
                <a:latin typeface="Aptos"/>
              </a:defRPr>
            </a:pPr>
            <a:r>
              <a:t>Organizar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468880"/>
            <a:ext cx="39776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Criar projetos e associar-lhes tarefas.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0574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011680"/>
            <a:ext cx="39776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22444"/>
                </a:solidFill>
                <a:latin typeface="Aptos"/>
              </a:defRPr>
            </a:pPr>
            <a:r>
              <a:t>Acompanhar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468880"/>
            <a:ext cx="39776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Definir estado, prioridade e prazo.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49039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23359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1912" y="3977639"/>
            <a:ext cx="39776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22444"/>
                </a:solidFill>
                <a:latin typeface="Aptos"/>
              </a:defRPr>
            </a:pPr>
            <a:r>
              <a:t>Consultar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434840"/>
            <a:ext cx="39776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Pesquisar e filtrar tarefas rapidamente.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39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4023359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D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977639"/>
            <a:ext cx="39776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22444"/>
                </a:solidFill>
                <a:latin typeface="Aptos"/>
              </a:defRPr>
            </a:pPr>
            <a:r>
              <a:t>Aprender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4434840"/>
            <a:ext cx="39776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Aplicar frontend, API e base de dados.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3450"/>
                </a:solidFill>
                <a:latin typeface="Aptos"/>
              </a:defRPr>
            </a:pPr>
            <a:r>
              <a:t>Critério de sucesso: criar, editar, concluir e eliminar tarefas com os dados guardados na base de 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3. Funcionalidades previstas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Separar o essencial das melhorias futuras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303520" cy="594360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56231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MVP — primeira versão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1576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606040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Criar e gerir projetos.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3182112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Criar, consultar, editar e eliminar tarefas.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86791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3758184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Definir estado, prioridade e prazo.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443984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4334256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Filtrar por projeto e estado.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02005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910328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Dashboard com resumo simples.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91640"/>
            <a:ext cx="5257800" cy="43891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874519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444"/>
                </a:solidFill>
                <a:latin typeface="Aptos"/>
              </a:defRPr>
            </a:pPr>
            <a:r>
              <a:t>Versões futuras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271576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606040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Registo e autenticação de utilizadores.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329184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3182112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Calendário e vista Kanban.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386791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3758184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Notificações de prazos.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4443984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4334256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Partilha de projetos e colaboração.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502005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4910328"/>
            <a:ext cx="4270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450"/>
                </a:solidFill>
                <a:latin typeface="Aptos"/>
              </a:defRPr>
            </a:pPr>
            <a:r>
              <a:t>Estatísticas e publicação online.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7796"/>
                </a:solidFill>
                <a:latin typeface="Aptos"/>
              </a:defRPr>
            </a:pPr>
            <a:r>
              <a:t>Estratégia: terminar primeiro um fluxo completo antes de alargar o âmbito.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4. 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Cada tecnologia tem uma responsabilidade clara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424160" cy="914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9848" y="2011680"/>
            <a:ext cx="109728" cy="548640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444"/>
                </a:solidFill>
                <a:latin typeface="Aptos"/>
              </a:defRPr>
            </a:pPr>
            <a:r>
              <a:t>Nuxt —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11680"/>
            <a:ext cx="6675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Páginas, componentes, formulários e experiência do utilizador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46120"/>
            <a:ext cx="10424160" cy="914400"/>
          </a:xfrm>
          <a:prstGeom prst="roundRect">
            <a:avLst>
              <a:gd name="adj" fmla="val 12000"/>
            </a:avLst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9848" y="3429000"/>
            <a:ext cx="109728" cy="548640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79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444"/>
                </a:solidFill>
                <a:latin typeface="Aptos"/>
              </a:defRPr>
            </a:pPr>
            <a:r>
              <a:t>FastAPI —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29000"/>
            <a:ext cx="6675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Endpoints HTTP, validação, regras de negócio e respostas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63440"/>
            <a:ext cx="10424160" cy="914400"/>
          </a:xfrm>
          <a:prstGeom prst="roundRect">
            <a:avLst>
              <a:gd name="adj" fmla="val 12000"/>
            </a:avLst>
          </a:prstGeom>
          <a:solidFill>
            <a:srgbClr val="E5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9848" y="4846320"/>
            <a:ext cx="109728" cy="548640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800600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444"/>
                </a:solidFill>
                <a:latin typeface="Aptos"/>
              </a:defRPr>
            </a:pPr>
            <a:r>
              <a:t>PostgreSQL —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846320"/>
            <a:ext cx="6675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Persistência, relações entre tabelas e integridade dos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1635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37796"/>
                </a:solidFill>
                <a:latin typeface="Aptos"/>
              </a:defRPr>
            </a:pPr>
            <a:r>
              <a:t>Pedidos HTTP / JSON  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33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37796"/>
                </a:solidFill>
                <a:latin typeface="Aptos"/>
              </a:defRPr>
            </a:pPr>
            <a:r>
              <a:t>Consultas SQL  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25312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Fluxo típico: o utilizador age no Nuxt → a FastAPI valida e processa → o PostgreSQL guarda ou devolve 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5. Modelo de dados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Começar com duas entidades principais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48056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80720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697480"/>
            <a:ext cx="34015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id — identificador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31012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3200400"/>
            <a:ext cx="34015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name — nome do projeto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81304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3703320"/>
            <a:ext cx="34015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description — descrição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31596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4206240"/>
            <a:ext cx="34015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created_at — data de criação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063240"/>
            <a:ext cx="150876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C70E8"/>
                </a:solidFill>
                <a:latin typeface="Aptos"/>
              </a:defRPr>
            </a:pPr>
            <a:r>
              <a:t>1  ───── 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828800"/>
            <a:ext cx="448056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03720" y="1828800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984248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80720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2697480"/>
            <a:ext cx="34015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id — identificador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31012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3200400"/>
            <a:ext cx="34015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project_id — projeto associado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81304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3703320"/>
            <a:ext cx="34015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title — título da tarefa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31596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206240"/>
            <a:ext cx="340156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450"/>
                </a:solidFill>
                <a:latin typeface="Aptos"/>
              </a:defRPr>
            </a:pPr>
            <a:r>
              <a:t>status, priority, due_date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715000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Relação: um projeto pode ter várias tarefas; cada tarefa pertence a um projeto. Utilizadores podem ser adicionados numa fase posterior.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6. API inicial da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Endpoints que ligam o frontend aos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508760" cy="420624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73936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/tasks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773936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Listar tarefas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59152"/>
            <a:ext cx="1508760" cy="420624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9572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/tasks/{id}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395728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Consultar uma tarefa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80944"/>
            <a:ext cx="1508760" cy="420624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39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0175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/tasks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017520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Criar tarefa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02736"/>
            <a:ext cx="1508760" cy="420624"/>
          </a:xfrm>
          <a:prstGeom prst="roundRect">
            <a:avLst>
              <a:gd name="adj" fmla="val 12000"/>
            </a:avLst>
          </a:prstGeom>
          <a:solidFill>
            <a:srgbClr val="ED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85032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639312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/tasks/{id}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639312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Atualizar tarefa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24528"/>
            <a:ext cx="1508760" cy="420624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06824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261104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/tasks/{id}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261104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Eliminar tarefa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46320"/>
            <a:ext cx="1508760" cy="420624"/>
          </a:xfrm>
          <a:prstGeom prst="roundRect">
            <a:avLst>
              <a:gd name="adj" fmla="val 12000"/>
            </a:avLst>
          </a:prstGeom>
          <a:solidFill>
            <a:srgbClr val="63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28616"/>
            <a:ext cx="1325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GET / 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882896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/projects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882896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37796"/>
                </a:solidFill>
                <a:latin typeface="Aptos"/>
              </a:defRPr>
            </a:pPr>
            <a:r>
              <a:t>Listar e criar projetos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715000"/>
            <a:ext cx="10515600" cy="5029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833872"/>
            <a:ext cx="10012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3450"/>
                </a:solidFill>
                <a:latin typeface="Aptos"/>
              </a:defRPr>
            </a:pPr>
            <a:r>
              <a:t>A documentação interativa /docs permite testar os endpoints durante o desenvolvimento.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7. Plano de desenvolvimento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Trabalhar por etapas e validar cada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1865376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42976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01368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Planeamento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84832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796"/>
                </a:solidFill>
                <a:latin typeface="Aptos"/>
              </a:defRPr>
            </a:pPr>
            <a:r>
              <a:t>Requisitos, esboço das páginas e modelo de dados.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5166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5392" y="1865376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75104"/>
            <a:ext cx="42976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801368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Ambiente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084832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796"/>
                </a:solidFill>
                <a:latin typeface="Aptos"/>
              </a:defRPr>
            </a:pPr>
            <a:r>
              <a:t>Criar Nuxt, FastAPI, PostgreSQL e configuração local.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70632"/>
            <a:ext cx="5166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1832" y="2944368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054096"/>
            <a:ext cx="42976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880360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63824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796"/>
                </a:solidFill>
                <a:latin typeface="Aptos"/>
              </a:defRPr>
            </a:pPr>
            <a:r>
              <a:t>Modelos, ligação à BD, endpoints e validação.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70632"/>
            <a:ext cx="5166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65392" y="2944368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054096"/>
            <a:ext cx="42976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880360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163824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796"/>
                </a:solidFill>
                <a:latin typeface="Aptos"/>
              </a:defRPr>
            </a:pPr>
            <a:r>
              <a:t>Dashboard, lista de tarefas e formulários.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849624"/>
            <a:ext cx="5166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1832" y="4023360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4133087"/>
            <a:ext cx="42976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3959352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Integração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242816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796"/>
                </a:solidFill>
                <a:latin typeface="Aptos"/>
              </a:defRPr>
            </a:pPr>
            <a:r>
              <a:t>Ligar Nuxt à API e testar o fluxo completo.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49624"/>
            <a:ext cx="5166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65392" y="4023360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133087"/>
            <a:ext cx="42976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959352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Qualidade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242816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796"/>
                </a:solidFill>
                <a:latin typeface="Aptos"/>
              </a:defRPr>
            </a:pPr>
            <a:r>
              <a:t>Testes, erros, segurança e documentação.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928616"/>
            <a:ext cx="5166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1832" y="5102352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5212080"/>
            <a:ext cx="42976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038344"/>
            <a:ext cx="39776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2444"/>
                </a:solidFill>
                <a:latin typeface="Aptos"/>
              </a:defRPr>
            </a:pPr>
            <a:r>
              <a:t>Publicação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321808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37796"/>
                </a:solidFill>
                <a:latin typeface="Aptos"/>
              </a:defRPr>
            </a:pPr>
            <a:r>
              <a:t>Preparar configuração de produção e deploy opcional.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Estimativa indicativa: 2–4 semanas, dependendo da experiência e do tempo disponível.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8. Estratégia de 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Reduzir riscos e manter o projeto controlável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65376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55648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444"/>
                </a:solidFill>
                <a:latin typeface="Aptos"/>
              </a:defRPr>
            </a:pPr>
            <a:r>
              <a:t>Começar pequeno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755648"/>
            <a:ext cx="70408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796"/>
                </a:solidFill>
                <a:latin typeface="Aptos"/>
              </a:defRPr>
            </a:pPr>
            <a:r>
              <a:t>Concluir o CRUD antes de adicionar autenticação ou notificações.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9464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97480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87752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444"/>
                </a:solidFill>
                <a:latin typeface="Aptos"/>
              </a:defRPr>
            </a:pPr>
            <a:r>
              <a:t>Construir ponta a ponta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587752"/>
            <a:ext cx="70408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796"/>
                </a:solidFill>
                <a:latin typeface="Aptos"/>
              </a:defRPr>
            </a:pPr>
            <a:r>
              <a:t>Uma funcionalidade completa: interface → API → base de dados.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0156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83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529584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419856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444"/>
                </a:solidFill>
                <a:latin typeface="Aptos"/>
              </a:defRPr>
            </a:pPr>
            <a:r>
              <a:t>Testar cedo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419856"/>
            <a:ext cx="70408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796"/>
                </a:solidFill>
                <a:latin typeface="Aptos"/>
              </a:defRPr>
            </a:pPr>
            <a:r>
              <a:t>Validar endpoints no /docs e automatizar testes do backend.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3367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D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361688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51959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444"/>
                </a:solidFill>
                <a:latin typeface="Aptos"/>
              </a:defRPr>
            </a:pPr>
            <a:r>
              <a:t>Proteger os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251959"/>
            <a:ext cx="70408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796"/>
                </a:solidFill>
                <a:latin typeface="Aptos"/>
              </a:defRPr>
            </a:pPr>
            <a:r>
              <a:t>Validar no servidor; guardar segredos fora do código; verificar permissões.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6577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63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193792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8406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444"/>
                </a:solidFill>
                <a:latin typeface="Aptos"/>
              </a:defRPr>
            </a:pPr>
            <a:r>
              <a:t>Versionar o trabalho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084064"/>
            <a:ext cx="70408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37796"/>
                </a:solidFill>
                <a:latin typeface="Aptos"/>
              </a:defRPr>
            </a:pPr>
            <a:r>
              <a:t>Usar Git e commits pequenos com mensagens claras.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080760"/>
            <a:ext cx="10241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3450"/>
                </a:solidFill>
                <a:latin typeface="Aptos"/>
              </a:defRPr>
            </a:pPr>
            <a:r>
              <a:t>Regra de ouro: só avançar quando a etapa atual estiver funcional e testada.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2444"/>
                </a:solidFill>
                <a:latin typeface="Aptos"/>
              </a:defRPr>
            </a:pPr>
            <a:r>
              <a:t>9. Critérios de sucesso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37796"/>
                </a:solidFill>
                <a:latin typeface="Aptos"/>
              </a:defRPr>
            </a:pPr>
            <a:r>
              <a:t>Como saber que o MVP está pronto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58368" cy="50292"/>
          </a:xfrm>
          <a:prstGeom prst="rect">
            <a:avLst/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779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3852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1828800"/>
            <a:ext cx="961948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450"/>
                </a:solidFill>
                <a:latin typeface="Aptos"/>
              </a:defRPr>
            </a:pPr>
            <a:r>
              <a:t>O utilizador consegue criar, editar, concluir e eliminar tarefas.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334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2523744"/>
            <a:ext cx="961948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450"/>
                </a:solidFill>
                <a:latin typeface="Aptos"/>
              </a:defRPr>
            </a:pPr>
            <a:r>
              <a:t>As tarefas continuam guardadas após reiniciar o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32841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3218688"/>
            <a:ext cx="961948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450"/>
                </a:solidFill>
                <a:latin typeface="Aptos"/>
              </a:defRPr>
            </a:pPr>
            <a:r>
              <a:t>As tarefas podem ser associadas a projetos e filtradas.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02336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3913632"/>
            <a:ext cx="961948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450"/>
                </a:solidFill>
                <a:latin typeface="Aptos"/>
              </a:defRPr>
            </a:pPr>
            <a:r>
              <a:t>A API trata dados inválidos e recursos inexistentes.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718304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6152" y="4608576"/>
            <a:ext cx="9619488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450"/>
                </a:solidFill>
                <a:latin typeface="Aptos"/>
              </a:defRPr>
            </a:pPr>
            <a:r>
              <a:t>O projeto tem instruções de instalação e execução.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486400"/>
            <a:ext cx="10424160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66928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2444"/>
                </a:solidFill>
                <a:latin typeface="Aptos"/>
              </a:defRPr>
            </a:pPr>
            <a:r>
              <a:t>Entrega principal: uma aplicação funcional, demonstrável e preparada para evoluir.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9966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9AC2FF"/>
                </a:solidFill>
                <a:latin typeface="Aptos"/>
              </a:defRPr>
            </a:pPr>
            <a:r>
              <a:t>TASKFLOW  • 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98755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Da ideia à primeira versão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5E4FA"/>
                </a:solidFill>
                <a:latin typeface="Aptos"/>
              </a:defRPr>
            </a:pPr>
            <a:r>
              <a:t>O objetivo não é construir tudo de uma vez — é construir algo útil, testar e melhorar.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538728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502152"/>
            <a:ext cx="8778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Criar o repositório e preparar o ambiente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4142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7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215384"/>
            <a:ext cx="8778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Implementar o endpoint POST /tasks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8554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0A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6519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928616"/>
            <a:ext cx="8778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Criar o formulário no Nuxt e guardar no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80760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DBFDC"/>
                </a:solidFill>
                <a:latin typeface="Aptos"/>
              </a:defRPr>
            </a:pPr>
            <a:r>
              <a:t>TaskFlow — Gestão de tarefas e projetos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