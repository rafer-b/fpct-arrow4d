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38160" y="-914400"/>
            <a:ext cx="4937760" cy="4937760"/>
          </a:xfrm>
          <a:prstGeom prst="ellipse">
            <a:avLst/>
          </a:prstGeom>
          <a:solidFill>
            <a:srgbClr val="14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915400" y="-137160"/>
            <a:ext cx="3291840" cy="3291840"/>
          </a:xfrm>
          <a:prstGeom prst="ellipse">
            <a:avLst/>
          </a:prstGeom>
          <a:solidFill>
            <a:srgbClr val="3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555480" y="502920"/>
            <a:ext cx="2011680" cy="2011680"/>
          </a:xfrm>
          <a:prstGeom prst="ellipse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12680" y="960120"/>
            <a:ext cx="1097280" cy="1097280"/>
          </a:xfrm>
          <a:prstGeom prst="ellipse">
            <a:avLst/>
          </a:prstGeom>
          <a:solidFill>
            <a:srgbClr val="0C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078992"/>
            <a:ext cx="6217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dirty="0">
                <a:solidFill>
                  <a:srgbClr val="24D5D2"/>
                </a:solidFill>
                <a:latin typeface="Aptos"/>
              </a:rPr>
              <a:t>GESTÃO DE PROJETOS ACADÉMICOS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600200"/>
            <a:ext cx="6492240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5400" b="1">
                <a:solidFill>
                  <a:srgbClr val="F6F9FF"/>
                </a:solidFill>
                <a:latin typeface="Aptos Display"/>
              </a:rPr>
              <a:t>TaskFlow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6400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0" dirty="0" err="1">
                <a:solidFill>
                  <a:srgbClr val="ABBAD3"/>
                </a:solidFill>
                <a:latin typeface="Aptos Display"/>
              </a:rPr>
              <a:t>Organizar</a:t>
            </a:r>
            <a:r>
              <a:rPr sz="2500" b="0" dirty="0">
                <a:solidFill>
                  <a:srgbClr val="ABBAD3"/>
                </a:solidFill>
                <a:latin typeface="Aptos Display"/>
              </a:rPr>
              <a:t>. </a:t>
            </a:r>
            <a:r>
              <a:rPr sz="2500" b="0" dirty="0" err="1">
                <a:solidFill>
                  <a:srgbClr val="ABBAD3"/>
                </a:solidFill>
                <a:latin typeface="Aptos Display"/>
              </a:rPr>
              <a:t>Colaborar</a:t>
            </a:r>
            <a:r>
              <a:rPr sz="2500" b="0" dirty="0">
                <a:solidFill>
                  <a:srgbClr val="ABBAD3"/>
                </a:solidFill>
                <a:latin typeface="Aptos Display"/>
              </a:rPr>
              <a:t>. </a:t>
            </a:r>
            <a:r>
              <a:rPr sz="2500" b="0" dirty="0" err="1">
                <a:solidFill>
                  <a:srgbClr val="ABBAD3"/>
                </a:solidFill>
                <a:latin typeface="Aptos Display"/>
              </a:rPr>
              <a:t>Concluir</a:t>
            </a:r>
            <a:r>
              <a:rPr sz="2500" b="0" dirty="0">
                <a:solidFill>
                  <a:srgbClr val="ABBAD3"/>
                </a:solidFill>
                <a:latin typeface="Aptos Display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858768"/>
            <a:ext cx="4160520" cy="594360"/>
          </a:xfrm>
          <a:prstGeom prst="roundRect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4005072"/>
            <a:ext cx="3931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1">
                <a:solidFill>
                  <a:srgbClr val="24D5D2"/>
                </a:solidFill>
                <a:latin typeface="Aptos"/>
              </a:rPr>
              <a:t>NUXT 4   •   FASTAPI   •  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989320"/>
            <a:ext cx="914400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pt-PT" sz="1200" b="0" dirty="0">
                <a:solidFill>
                  <a:srgbClr val="ABBAD3"/>
                </a:solidFill>
                <a:latin typeface="Aptos"/>
              </a:rPr>
              <a:t>Ramalho Fernando </a:t>
            </a:r>
            <a:r>
              <a:rPr lang="pt-PT" sz="1200" b="0" dirty="0" err="1">
                <a:solidFill>
                  <a:srgbClr val="ABBAD3"/>
                </a:solidFill>
                <a:latin typeface="Aptos"/>
              </a:rPr>
              <a:t>Ié</a:t>
            </a:r>
            <a:r>
              <a:rPr sz="1200" b="0" dirty="0">
                <a:solidFill>
                  <a:srgbClr val="ABBAD3"/>
                </a:solidFill>
                <a:latin typeface="Aptos"/>
              </a:rPr>
              <a:t> • </a:t>
            </a:r>
            <a:r>
              <a:rPr lang="pt-PT" sz="1200" dirty="0">
                <a:solidFill>
                  <a:srgbClr val="ABBAD3"/>
                </a:solidFill>
                <a:latin typeface="Aptos"/>
              </a:rPr>
              <a:t>Desenvolvimento de software</a:t>
            </a:r>
            <a:r>
              <a:rPr sz="1200" b="0" dirty="0">
                <a:solidFill>
                  <a:srgbClr val="ABBAD3"/>
                </a:solidFill>
                <a:latin typeface="Aptos"/>
              </a:rPr>
              <a:t>  •  2026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0" y="4846320"/>
            <a:ext cx="41148" cy="41148"/>
          </a:xfrm>
          <a:prstGeom prst="ellipse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525512" y="4846320"/>
            <a:ext cx="41148" cy="41148"/>
          </a:xfrm>
          <a:prstGeom prst="ellipse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735824" y="4846320"/>
            <a:ext cx="41148" cy="41148"/>
          </a:xfrm>
          <a:prstGeom prst="ellipse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946136" y="4846320"/>
            <a:ext cx="41148" cy="41148"/>
          </a:xfrm>
          <a:prstGeom prst="ellipse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156448" y="4846320"/>
            <a:ext cx="41148" cy="41148"/>
          </a:xfrm>
          <a:prstGeom prst="ellipse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66760" y="4846320"/>
            <a:ext cx="41148" cy="41148"/>
          </a:xfrm>
          <a:prstGeom prst="ellipse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577072" y="4846320"/>
            <a:ext cx="41148" cy="41148"/>
          </a:xfrm>
          <a:prstGeom prst="ellipse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787384" y="4846320"/>
            <a:ext cx="41148" cy="41148"/>
          </a:xfrm>
          <a:prstGeom prst="ellipse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315200" y="5056632"/>
            <a:ext cx="41148" cy="41148"/>
          </a:xfrm>
          <a:prstGeom prst="ellipse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525512" y="5056632"/>
            <a:ext cx="41148" cy="41148"/>
          </a:xfrm>
          <a:prstGeom prst="ellipse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735824" y="5056632"/>
            <a:ext cx="41148" cy="41148"/>
          </a:xfrm>
          <a:prstGeom prst="ellipse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946136" y="5056632"/>
            <a:ext cx="41148" cy="41148"/>
          </a:xfrm>
          <a:prstGeom prst="ellipse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156448" y="5056632"/>
            <a:ext cx="41148" cy="41148"/>
          </a:xfrm>
          <a:prstGeom prst="ellipse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366760" y="5056632"/>
            <a:ext cx="41148" cy="41148"/>
          </a:xfrm>
          <a:prstGeom prst="ellipse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577072" y="5056632"/>
            <a:ext cx="41148" cy="41148"/>
          </a:xfrm>
          <a:prstGeom prst="ellipse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787384" y="5056632"/>
            <a:ext cx="41148" cy="41148"/>
          </a:xfrm>
          <a:prstGeom prst="ellipse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315200" y="5266944"/>
            <a:ext cx="41148" cy="41148"/>
          </a:xfrm>
          <a:prstGeom prst="ellipse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525512" y="5266944"/>
            <a:ext cx="41148" cy="41148"/>
          </a:xfrm>
          <a:prstGeom prst="ellipse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735824" y="5266944"/>
            <a:ext cx="41148" cy="41148"/>
          </a:xfrm>
          <a:prstGeom prst="ellipse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946136" y="5266944"/>
            <a:ext cx="41148" cy="41148"/>
          </a:xfrm>
          <a:prstGeom prst="ellipse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156448" y="5266944"/>
            <a:ext cx="41148" cy="41148"/>
          </a:xfrm>
          <a:prstGeom prst="ellipse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66760" y="5266944"/>
            <a:ext cx="41148" cy="41148"/>
          </a:xfrm>
          <a:prstGeom prst="ellipse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577072" y="5266944"/>
            <a:ext cx="41148" cy="41148"/>
          </a:xfrm>
          <a:prstGeom prst="ellipse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787384" y="5266944"/>
            <a:ext cx="41148" cy="41148"/>
          </a:xfrm>
          <a:prstGeom prst="ellipse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315200" y="5477256"/>
            <a:ext cx="41148" cy="41148"/>
          </a:xfrm>
          <a:prstGeom prst="ellipse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525512" y="5477256"/>
            <a:ext cx="41148" cy="41148"/>
          </a:xfrm>
          <a:prstGeom prst="ellipse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735824" y="5477256"/>
            <a:ext cx="41148" cy="41148"/>
          </a:xfrm>
          <a:prstGeom prst="ellipse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946136" y="5477256"/>
            <a:ext cx="41148" cy="41148"/>
          </a:xfrm>
          <a:prstGeom prst="ellipse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156448" y="5477256"/>
            <a:ext cx="41148" cy="41148"/>
          </a:xfrm>
          <a:prstGeom prst="ellipse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366760" y="5477256"/>
            <a:ext cx="41148" cy="41148"/>
          </a:xfrm>
          <a:prstGeom prst="ellipse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577072" y="5477256"/>
            <a:ext cx="41148" cy="41148"/>
          </a:xfrm>
          <a:prstGeom prst="ellipse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787384" y="5477256"/>
            <a:ext cx="41148" cy="41148"/>
          </a:xfrm>
          <a:prstGeom prst="ellipse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8961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24D5D2"/>
                </a:solidFill>
                <a:latin typeface="Aptos"/>
              </a:rPr>
              <a:t>01 ·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46888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1">
                <a:solidFill>
                  <a:srgbClr val="ABBAD3"/>
                </a:solidFill>
                <a:latin typeface="Apto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1792"/>
            <a:ext cx="10972800" cy="22860"/>
          </a:xfrm>
          <a:prstGeom prst="rect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3000" b="1">
                <a:solidFill>
                  <a:srgbClr val="F6F9FF"/>
                </a:solidFill>
                <a:latin typeface="Aptos Display"/>
              </a:rPr>
              <a:t>O problema não é falta de trabalho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515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ABBAD3"/>
                </a:solidFill>
                <a:latin typeface="Aptos"/>
              </a:rPr>
              <a:t>É difícil gerir o trabalho quando a informação está dispersa.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3429000" cy="2286000"/>
          </a:xfrm>
          <a:prstGeom prst="roundRect">
            <a:avLst/>
          </a:prstGeom>
          <a:solidFill>
            <a:srgbClr val="1A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331720"/>
            <a:ext cx="73152" cy="2286000"/>
          </a:xfrm>
          <a:prstGeom prst="rect">
            <a:avLst/>
          </a:prstGeom>
          <a:solidFill>
            <a:srgbClr val="3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496312"/>
            <a:ext cx="30632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6F9FF"/>
                </a:solidFill>
                <a:latin typeface="Aptos"/>
              </a:rPr>
              <a:t>01  Informação dispersa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971800"/>
            <a:ext cx="3044952" cy="1536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ABBAD3"/>
                </a:solidFill>
                <a:latin typeface="Aptos"/>
              </a:rPr>
              <a:t>Ficheiros, mensagens e tarefas espalhados por diferentes canais.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331720"/>
            <a:ext cx="3429000" cy="2286000"/>
          </a:xfrm>
          <a:prstGeom prst="roundRect">
            <a:avLst/>
          </a:prstGeom>
          <a:solidFill>
            <a:srgbClr val="1A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331720"/>
            <a:ext cx="73152" cy="2286000"/>
          </a:xfrm>
          <a:prstGeom prst="rect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2496312"/>
            <a:ext cx="30632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6F9FF"/>
                </a:solidFill>
                <a:latin typeface="Aptos"/>
              </a:rPr>
              <a:t>02  Papéis pouco claros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971800"/>
            <a:ext cx="3044952" cy="1536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ABBAD3"/>
                </a:solidFill>
                <a:latin typeface="Aptos"/>
              </a:rPr>
              <a:t>Nem sempre é evidente quem faz o quê e até quando.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331720"/>
            <a:ext cx="3429000" cy="2286000"/>
          </a:xfrm>
          <a:prstGeom prst="roundRect">
            <a:avLst/>
          </a:prstGeom>
          <a:solidFill>
            <a:srgbClr val="1A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2331720"/>
            <a:ext cx="73152" cy="228600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2496312"/>
            <a:ext cx="30632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6F9FF"/>
                </a:solidFill>
                <a:latin typeface="Aptos"/>
              </a:rPr>
              <a:t>03  Progresso invisível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971800"/>
            <a:ext cx="3044952" cy="1536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ABBAD3"/>
                </a:solidFill>
                <a:latin typeface="Aptos"/>
              </a:rPr>
              <a:t>Falta uma visão rápida do que está pendente ou atrasado.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234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dirty="0">
                <a:solidFill>
                  <a:srgbClr val="24D5D2"/>
                </a:solidFill>
                <a:latin typeface="Aptos"/>
              </a:rPr>
              <a:t>RESULTADO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5074920"/>
            <a:ext cx="90525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100" b="1">
                <a:solidFill>
                  <a:srgbClr val="F6F9FF"/>
                </a:solidFill>
                <a:latin typeface="Aptos Display"/>
              </a:rPr>
              <a:t>Mais dúvidas  →  mais atrasos  →  menos previsibilidade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8961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24D5D2"/>
                </a:solidFill>
                <a:latin typeface="Aptos"/>
              </a:rPr>
              <a:t>02 · PROPOSTA DE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46888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1">
                <a:solidFill>
                  <a:srgbClr val="ABBAD3"/>
                </a:solidFill>
                <a:latin typeface="Apto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1792"/>
            <a:ext cx="10972800" cy="22860"/>
          </a:xfrm>
          <a:prstGeom prst="rect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3000" b="1">
                <a:solidFill>
                  <a:srgbClr val="F6F9FF"/>
                </a:solidFill>
                <a:latin typeface="Aptos Display"/>
              </a:rPr>
              <a:t>Uma visão comum para toda a equipa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515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ABBAD3"/>
                </a:solidFill>
                <a:latin typeface="Aptos"/>
              </a:rPr>
              <a:t>O TaskFlow centraliza projetos, tarefas, prioridades e prazos.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2240280"/>
            <a:ext cx="3977639" cy="2514600"/>
          </a:xfrm>
          <a:prstGeom prst="roundRect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2560320"/>
            <a:ext cx="33375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2500" b="1">
                <a:solidFill>
                  <a:srgbClr val="24D5D2"/>
                </a:solidFill>
                <a:latin typeface="Aptos Display"/>
              </a:rPr>
              <a:t>TASKFLOW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3246120"/>
            <a:ext cx="324612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F6F9FF"/>
                </a:solidFill>
                <a:latin typeface="Aptos"/>
              </a:rPr>
              <a:t>Projetos  •  Tarefas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F6F9FF"/>
                </a:solidFill>
                <a:latin typeface="Aptos"/>
              </a:rPr>
              <a:t>Prioridades  •  Prazos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F6F9FF"/>
                </a:solidFill>
                <a:latin typeface="Aptos"/>
              </a:rPr>
              <a:t>Estado  •  Progresso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14600"/>
            <a:ext cx="2651760" cy="1645920"/>
          </a:xfrm>
          <a:prstGeom prst="roundRect">
            <a:avLst/>
          </a:prstGeom>
          <a:solidFill>
            <a:srgbClr val="1A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2514600"/>
            <a:ext cx="73152" cy="1645920"/>
          </a:xfrm>
          <a:prstGeom prst="rect">
            <a:avLst/>
          </a:prstGeom>
          <a:solidFill>
            <a:srgbClr val="3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2679192"/>
            <a:ext cx="22860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Centralizar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154680"/>
            <a:ext cx="2267712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ABBAD3"/>
                </a:solidFill>
                <a:latin typeface="Aptos"/>
              </a:rPr>
              <a:t>Informação num só local.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2514600"/>
            <a:ext cx="2651760" cy="1645920"/>
          </a:xfrm>
          <a:prstGeom prst="roundRect">
            <a:avLst/>
          </a:prstGeom>
          <a:solidFill>
            <a:srgbClr val="1A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778240" y="2514600"/>
            <a:ext cx="73152" cy="1645920"/>
          </a:xfrm>
          <a:prstGeom prst="rect">
            <a:avLst/>
          </a:prstGeom>
          <a:solidFill>
            <a:srgbClr val="49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79408" y="2679192"/>
            <a:ext cx="22860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Acompanhar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3154680"/>
            <a:ext cx="2267712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ABBAD3"/>
                </a:solidFill>
                <a:latin typeface="Aptos"/>
              </a:rPr>
              <a:t>Estado e evolução à vista.</a:t>
            </a:r>
          </a:p>
        </p:txBody>
      </p:sp>
      <p:sp>
        <p:nvSpPr>
          <p:cNvPr id="18" name="Chevron 17"/>
          <p:cNvSpPr/>
          <p:nvPr/>
        </p:nvSpPr>
        <p:spPr>
          <a:xfrm>
            <a:off x="3383280" y="3108960"/>
            <a:ext cx="502920" cy="502920"/>
          </a:xfrm>
          <a:prstGeom prst="chevron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hevron 18"/>
          <p:cNvSpPr/>
          <p:nvPr/>
        </p:nvSpPr>
        <p:spPr>
          <a:xfrm>
            <a:off x="8183879" y="3108960"/>
            <a:ext cx="502920" cy="502920"/>
          </a:xfrm>
          <a:prstGeom prst="chevron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103327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800" b="0">
                <a:solidFill>
                  <a:srgbClr val="ABBAD3"/>
                </a:solidFill>
                <a:latin typeface="Aptos"/>
              </a:rPr>
              <a:t>Um espaço partilhado para planear, executar e acompanhar.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8961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24D5D2"/>
                </a:solidFill>
                <a:latin typeface="Aptos"/>
              </a:rPr>
              <a:t>03 · 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46888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1">
                <a:solidFill>
                  <a:srgbClr val="ABBAD3"/>
                </a:solidFill>
                <a:latin typeface="Aptos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1792"/>
            <a:ext cx="10972800" cy="22860"/>
          </a:xfrm>
          <a:prstGeom prst="rect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3000" b="1">
                <a:solidFill>
                  <a:srgbClr val="F6F9FF"/>
                </a:solidFill>
                <a:latin typeface="Aptos Display"/>
              </a:rPr>
              <a:t>Da organização à conclusão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515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ABBAD3"/>
                </a:solidFill>
                <a:latin typeface="Aptos"/>
              </a:rPr>
              <a:t>Objetivos orientados para uma gestão académica mais clara.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94560"/>
            <a:ext cx="5166360" cy="1417320"/>
          </a:xfrm>
          <a:prstGeom prst="roundRect">
            <a:avLst/>
          </a:prstGeom>
          <a:solidFill>
            <a:srgbClr val="1A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73152" cy="1417320"/>
          </a:xfrm>
          <a:prstGeom prst="rect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2359152"/>
            <a:ext cx="48006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6F9FF"/>
                </a:solidFill>
                <a:latin typeface="Aptos"/>
              </a:rPr>
              <a:t>OBJETIVO GERAL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834639"/>
            <a:ext cx="4782312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ABBAD3"/>
                </a:solidFill>
                <a:latin typeface="Aptos"/>
              </a:rPr>
              <a:t>Desenvolver uma plataforma web para gerir projetos académicos e facilitar a colaboração.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3657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24D5D2"/>
                </a:solidFill>
                <a:latin typeface="Aptos"/>
              </a:rPr>
              <a:t>OBJETIVOS ESPECÍFICOS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572000"/>
            <a:ext cx="502920" cy="502920"/>
          </a:xfrm>
          <a:prstGeom prst="ellipse">
            <a:avLst/>
          </a:prstGeom>
          <a:solidFill>
            <a:srgbClr val="3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581144"/>
            <a:ext cx="502920" cy="4846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6F9FF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4553712"/>
            <a:ext cx="24688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6F9FF"/>
                </a:solidFill>
                <a:latin typeface="Aptos"/>
              </a:rPr>
              <a:t>Organizar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937760"/>
            <a:ext cx="256032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ABBAD3"/>
                </a:solidFill>
                <a:latin typeface="Aptos"/>
              </a:rPr>
              <a:t>Projetos e tarefas numa estrutura única.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0" y="4572000"/>
            <a:ext cx="502920" cy="502920"/>
          </a:xfrm>
          <a:prstGeom prst="ellipse">
            <a:avLst/>
          </a:prstGeom>
          <a:solidFill>
            <a:srgbClr val="49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4581144"/>
            <a:ext cx="502920" cy="4846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6F9F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4553712"/>
            <a:ext cx="24688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6F9FF"/>
                </a:solidFill>
                <a:latin typeface="Aptos"/>
              </a:rPr>
              <a:t>Atribuir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4937760"/>
            <a:ext cx="256032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ABBAD3"/>
                </a:solidFill>
                <a:latin typeface="Aptos"/>
              </a:rPr>
              <a:t>Responsáveis, prioridades e prazos.</a:t>
            </a:r>
          </a:p>
        </p:txBody>
      </p:sp>
      <p:sp>
        <p:nvSpPr>
          <p:cNvPr id="20" name="Oval 19"/>
          <p:cNvSpPr/>
          <p:nvPr/>
        </p:nvSpPr>
        <p:spPr>
          <a:xfrm>
            <a:off x="8321040" y="4572000"/>
            <a:ext cx="502920" cy="502920"/>
          </a:xfrm>
          <a:prstGeom prst="ellipse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4581144"/>
            <a:ext cx="502920" cy="4846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6F9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4553712"/>
            <a:ext cx="24688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6F9FF"/>
                </a:solidFill>
                <a:latin typeface="Aptos"/>
              </a:rPr>
              <a:t>Acompanhar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4937760"/>
            <a:ext cx="256032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ABBAD3"/>
                </a:solidFill>
                <a:latin typeface="Aptos"/>
              </a:rPr>
              <a:t>Estados e progresso de cada tarefa.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8961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24D5D2"/>
                </a:solidFill>
                <a:latin typeface="Aptos"/>
              </a:rPr>
              <a:t>04 · CAMPO DE ATUAÇÃO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46888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1">
                <a:solidFill>
                  <a:srgbClr val="ABBAD3"/>
                </a:solidFill>
                <a:latin typeface="Aptos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1792"/>
            <a:ext cx="10972800" cy="22860"/>
          </a:xfrm>
          <a:prstGeom prst="rect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3000" b="1">
                <a:solidFill>
                  <a:srgbClr val="F6F9FF"/>
                </a:solidFill>
                <a:latin typeface="Aptos Display"/>
              </a:rPr>
              <a:t>Feito para projetos académicos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515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ABBAD3"/>
                </a:solidFill>
                <a:latin typeface="Aptos"/>
              </a:rPr>
              <a:t>O foco está no ensino superior e na formação profissional avançada.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2606040" cy="1920240"/>
          </a:xfrm>
          <a:prstGeom prst="roundRect">
            <a:avLst/>
          </a:prstGeom>
          <a:solidFill>
            <a:srgbClr val="1A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514600"/>
            <a:ext cx="73152" cy="1920240"/>
          </a:xfrm>
          <a:prstGeom prst="rect">
            <a:avLst/>
          </a:prstGeom>
          <a:solidFill>
            <a:srgbClr val="3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679192"/>
            <a:ext cx="22402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F6F9FF"/>
                </a:solidFill>
                <a:latin typeface="Aptos"/>
              </a:rPr>
              <a:t>PESQUISA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154680"/>
            <a:ext cx="2221992" cy="1170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ABBAD3"/>
                </a:solidFill>
                <a:latin typeface="Aptos"/>
              </a:rPr>
              <a:t>Recolha e análise de informação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514600"/>
            <a:ext cx="2606040" cy="1920240"/>
          </a:xfrm>
          <a:prstGeom prst="roundRect">
            <a:avLst/>
          </a:prstGeom>
          <a:solidFill>
            <a:srgbClr val="1A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11880" y="2514600"/>
            <a:ext cx="73152" cy="1920240"/>
          </a:xfrm>
          <a:prstGeom prst="rect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13048" y="2679192"/>
            <a:ext cx="22402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F6F9FF"/>
                </a:solidFill>
                <a:latin typeface="Aptos"/>
              </a:rPr>
              <a:t>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3154680"/>
            <a:ext cx="2221992" cy="1170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ABBAD3"/>
                </a:solidFill>
                <a:latin typeface="Aptos"/>
              </a:rPr>
              <a:t>Planeamento e desenvolvimento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514600"/>
            <a:ext cx="2606040" cy="1920240"/>
          </a:xfrm>
          <a:prstGeom prst="roundRect">
            <a:avLst/>
          </a:prstGeom>
          <a:solidFill>
            <a:srgbClr val="1A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92240" y="2514600"/>
            <a:ext cx="73152" cy="192024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93407" y="2679192"/>
            <a:ext cx="22402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F6F9FF"/>
                </a:solidFill>
                <a:latin typeface="Aptos"/>
              </a:rPr>
              <a:t>SEMINÁRIOS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7" y="3154680"/>
            <a:ext cx="2221992" cy="1170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ABBAD3"/>
                </a:solidFill>
                <a:latin typeface="Aptos"/>
              </a:rPr>
              <a:t>Preparação e coordenação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2514600"/>
            <a:ext cx="2606040" cy="1920240"/>
          </a:xfrm>
          <a:prstGeom prst="roundRect">
            <a:avLst/>
          </a:prstGeom>
          <a:solidFill>
            <a:srgbClr val="1A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72600" y="2514600"/>
            <a:ext cx="73152" cy="1920240"/>
          </a:xfrm>
          <a:prstGeom prst="rect">
            <a:avLst/>
          </a:prstGeom>
          <a:solidFill>
            <a:srgbClr val="49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73768" y="2679192"/>
            <a:ext cx="22402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F6F9FF"/>
                </a:solidFill>
                <a:latin typeface="Aptos"/>
              </a:rPr>
              <a:t>ESTUDOS DE CASO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3768" y="3154680"/>
            <a:ext cx="2221992" cy="1170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ABBAD3"/>
                </a:solidFill>
                <a:latin typeface="Aptos"/>
              </a:rPr>
              <a:t>Análise, discussão e relatório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166360"/>
            <a:ext cx="106070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0">
                <a:solidFill>
                  <a:srgbClr val="F6F9FF"/>
                </a:solidFill>
                <a:latin typeface="Aptos"/>
              </a:rPr>
              <a:t>Utilizadores previstos: estudantes, equipas de projeto e colaboradores académicos.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8961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24D5D2"/>
                </a:solidFill>
                <a:latin typeface="Aptos"/>
              </a:rPr>
              <a:t>05 · ORGANIZAÇÃO DAS TAREFAS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46888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1">
                <a:solidFill>
                  <a:srgbClr val="ABBAD3"/>
                </a:solidFill>
                <a:latin typeface="Aptos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1792"/>
            <a:ext cx="10972800" cy="22860"/>
          </a:xfrm>
          <a:prstGeom prst="rect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3000" b="1">
                <a:solidFill>
                  <a:srgbClr val="F6F9FF"/>
                </a:solidFill>
                <a:latin typeface="Aptos Display"/>
              </a:rPr>
              <a:t>Cada tarefa tem um ciclo claro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515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ABBAD3"/>
                </a:solidFill>
                <a:latin typeface="Aptos"/>
              </a:rPr>
              <a:t>Da preparação à entrega, com estado e prioridade visíveis.</a:t>
            </a:r>
          </a:p>
        </p:txBody>
      </p:sp>
      <p:sp>
        <p:nvSpPr>
          <p:cNvPr id="7" name="Oval 6"/>
          <p:cNvSpPr/>
          <p:nvPr/>
        </p:nvSpPr>
        <p:spPr>
          <a:xfrm>
            <a:off x="1207007" y="2423160"/>
            <a:ext cx="658368" cy="658368"/>
          </a:xfrm>
          <a:prstGeom prst="ellipse">
            <a:avLst/>
          </a:prstGeom>
          <a:solidFill>
            <a:srgbClr val="3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07007" y="2432303"/>
            <a:ext cx="658368" cy="6400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865376" y="2724912"/>
            <a:ext cx="1645920" cy="32004"/>
          </a:xfrm>
          <a:prstGeom prst="rect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3337560"/>
            <a:ext cx="17830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F6F9FF"/>
                </a:solidFill>
                <a:latin typeface="Aptos"/>
              </a:rPr>
              <a:t>Planear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" y="3794760"/>
            <a:ext cx="1874519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300" b="0">
                <a:solidFill>
                  <a:srgbClr val="ABBAD3"/>
                </a:solidFill>
                <a:latin typeface="Aptos"/>
              </a:rPr>
              <a:t>Definir objetivos</a:t>
            </a:r>
          </a:p>
        </p:txBody>
      </p:sp>
      <p:sp>
        <p:nvSpPr>
          <p:cNvPr id="12" name="Oval 11"/>
          <p:cNvSpPr/>
          <p:nvPr/>
        </p:nvSpPr>
        <p:spPr>
          <a:xfrm>
            <a:off x="3511296" y="2423160"/>
            <a:ext cx="658368" cy="658368"/>
          </a:xfrm>
          <a:prstGeom prst="ellipse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11296" y="2432303"/>
            <a:ext cx="658368" cy="6400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4" y="2724912"/>
            <a:ext cx="1645920" cy="32004"/>
          </a:xfrm>
          <a:prstGeom prst="rect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62656" y="3337560"/>
            <a:ext cx="17830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F6F9FF"/>
                </a:solidFill>
                <a:latin typeface="Aptos"/>
              </a:rPr>
              <a:t>Pesquisar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6936" y="3794760"/>
            <a:ext cx="1874519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300" b="0">
                <a:solidFill>
                  <a:srgbClr val="ABBAD3"/>
                </a:solidFill>
                <a:latin typeface="Aptos"/>
              </a:rPr>
              <a:t>Reunir informação</a:t>
            </a:r>
          </a:p>
        </p:txBody>
      </p:sp>
      <p:sp>
        <p:nvSpPr>
          <p:cNvPr id="17" name="Oval 16"/>
          <p:cNvSpPr/>
          <p:nvPr/>
        </p:nvSpPr>
        <p:spPr>
          <a:xfrm>
            <a:off x="5815583" y="2423160"/>
            <a:ext cx="658368" cy="658368"/>
          </a:xfrm>
          <a:prstGeom prst="ellipse">
            <a:avLst/>
          </a:prstGeom>
          <a:solidFill>
            <a:srgbClr val="49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15583" y="2432303"/>
            <a:ext cx="658368" cy="6400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73952" y="2724912"/>
            <a:ext cx="1645920" cy="32004"/>
          </a:xfrm>
          <a:prstGeom prst="rect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66944" y="3337560"/>
            <a:ext cx="17830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F6F9FF"/>
                </a:solidFill>
                <a:latin typeface="Aptos"/>
              </a:rPr>
              <a:t>Desenvolver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794760"/>
            <a:ext cx="1874519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300" b="0">
                <a:solidFill>
                  <a:srgbClr val="ABBAD3"/>
                </a:solidFill>
                <a:latin typeface="Aptos"/>
              </a:rPr>
              <a:t>Construir a solução</a:t>
            </a:r>
          </a:p>
        </p:txBody>
      </p:sp>
      <p:sp>
        <p:nvSpPr>
          <p:cNvPr id="22" name="Oval 21"/>
          <p:cNvSpPr/>
          <p:nvPr/>
        </p:nvSpPr>
        <p:spPr>
          <a:xfrm>
            <a:off x="8119872" y="2423160"/>
            <a:ext cx="658368" cy="658368"/>
          </a:xfrm>
          <a:prstGeom prst="ellipse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19872" y="2432303"/>
            <a:ext cx="658368" cy="6400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2724912"/>
            <a:ext cx="1645920" cy="32004"/>
          </a:xfrm>
          <a:prstGeom prst="rect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71232" y="3337560"/>
            <a:ext cx="17830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F6F9FF"/>
                </a:solidFill>
                <a:latin typeface="Aptos"/>
              </a:rPr>
              <a:t>Validar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12" y="3794760"/>
            <a:ext cx="1874519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300" b="0">
                <a:solidFill>
                  <a:srgbClr val="ABBAD3"/>
                </a:solidFill>
                <a:latin typeface="Aptos"/>
              </a:rPr>
              <a:t>Testar e rever</a:t>
            </a:r>
          </a:p>
        </p:txBody>
      </p:sp>
      <p:sp>
        <p:nvSpPr>
          <p:cNvPr id="27" name="Oval 26"/>
          <p:cNvSpPr/>
          <p:nvPr/>
        </p:nvSpPr>
        <p:spPr>
          <a:xfrm>
            <a:off x="10424160" y="2423160"/>
            <a:ext cx="658368" cy="658368"/>
          </a:xfrm>
          <a:prstGeom prst="ellipse">
            <a:avLst/>
          </a:prstGeom>
          <a:solidFill>
            <a:srgbClr val="FF6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424160" y="2432303"/>
            <a:ext cx="658368" cy="6400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3337560"/>
            <a:ext cx="17830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F6F9FF"/>
                </a:solidFill>
                <a:latin typeface="Aptos"/>
              </a:rPr>
              <a:t>Entregar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3794760"/>
            <a:ext cx="1874519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300" b="0">
                <a:solidFill>
                  <a:srgbClr val="ABBAD3"/>
                </a:solidFill>
                <a:latin typeface="Aptos"/>
              </a:rPr>
              <a:t>Documentar e submeter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5074920"/>
            <a:ext cx="9966960" cy="594360"/>
          </a:xfrm>
          <a:prstGeom prst="roundRect">
            <a:avLst/>
          </a:prstGeom>
          <a:solidFill>
            <a:srgbClr val="1A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25880" y="5239512"/>
            <a:ext cx="95097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24D5D2"/>
                </a:solidFill>
                <a:latin typeface="Aptos"/>
              </a:rPr>
              <a:t>Cada tarefa inclui: título  •  descrição  •  responsável  •  prazo  •  prioridade  •  estado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8961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24D5D2"/>
                </a:solidFill>
                <a:latin typeface="Aptos"/>
              </a:rPr>
              <a:t>06 · CONTROLO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46888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1">
                <a:solidFill>
                  <a:srgbClr val="ABBAD3"/>
                </a:solidFill>
                <a:latin typeface="Aptos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1792"/>
            <a:ext cx="10972800" cy="22860"/>
          </a:xfrm>
          <a:prstGeom prst="rect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3000" b="1">
                <a:solidFill>
                  <a:srgbClr val="F6F9FF"/>
                </a:solidFill>
                <a:latin typeface="Aptos Display"/>
              </a:rPr>
              <a:t>Estado e prioridade, sem ambiguidades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515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ABBAD3"/>
                </a:solidFill>
                <a:latin typeface="Aptos"/>
              </a:rPr>
              <a:t>A equipa consegue perceber o que precisa de atenção.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5212080" cy="2560320"/>
          </a:xfrm>
          <a:prstGeom prst="roundRect">
            <a:avLst/>
          </a:prstGeom>
          <a:solidFill>
            <a:srgbClr val="1A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73152" cy="2560320"/>
          </a:xfrm>
          <a:prstGeom prst="rect">
            <a:avLst/>
          </a:prstGeom>
          <a:solidFill>
            <a:srgbClr val="3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2404872"/>
            <a:ext cx="4846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6F9FF"/>
                </a:solidFill>
                <a:latin typeface="Aptos"/>
              </a:rPr>
              <a:t>ESTADO DA TAREFA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880360"/>
            <a:ext cx="4828032" cy="1810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ABBAD3"/>
                </a:solidFill>
                <a:latin typeface="Aptos"/>
              </a:rPr>
              <a:t>Pendente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ABBAD3"/>
                </a:solidFill>
                <a:latin typeface="Aptos"/>
              </a:rPr>
              <a:t>Em progresso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ABBAD3"/>
                </a:solidFill>
                <a:latin typeface="Aptos"/>
              </a:rPr>
              <a:t>Concluída</a:t>
            </a:r>
          </a:p>
          <a:p>
            <a:pPr algn="l">
              <a:spcAft>
                <a:spcPts val="700"/>
              </a:spcAft>
            </a:pPr>
            <a:endParaRPr sz="1500" b="0">
              <a:solidFill>
                <a:srgbClr val="ABBAD3"/>
              </a:solidFill>
              <a:latin typeface="Aptos"/>
            </a:endParaRP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ABBAD3"/>
                </a:solidFill>
                <a:latin typeface="Aptos"/>
              </a:rPr>
              <a:t>Permite perceber em que fase está cada atividade.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40280"/>
            <a:ext cx="5212080" cy="2560320"/>
          </a:xfrm>
          <a:prstGeom prst="roundRect">
            <a:avLst/>
          </a:prstGeom>
          <a:solidFill>
            <a:srgbClr val="1A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2240280"/>
            <a:ext cx="73152" cy="256032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2404872"/>
            <a:ext cx="4846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6F9FF"/>
                </a:solidFill>
                <a:latin typeface="Aptos"/>
              </a:rPr>
              <a:t>NÍVEL DE PRIORIDADE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880360"/>
            <a:ext cx="4828032" cy="1810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ABBAD3"/>
                </a:solidFill>
                <a:latin typeface="Aptos"/>
              </a:rPr>
              <a:t>Baixa   •   Média   •   Alta</a:t>
            </a:r>
          </a:p>
          <a:p>
            <a:pPr algn="l">
              <a:spcAft>
                <a:spcPts val="700"/>
              </a:spcAft>
            </a:pPr>
            <a:endParaRPr sz="1600" b="0">
              <a:solidFill>
                <a:srgbClr val="ABBAD3"/>
              </a:solidFill>
              <a:latin typeface="Aptos"/>
            </a:endParaRP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ABBAD3"/>
                </a:solidFill>
                <a:latin typeface="Aptos"/>
              </a:rPr>
              <a:t>Ajuda a decidir o que deve ser tratado primeiro.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257800"/>
            <a:ext cx="106070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ABBAD3"/>
                </a:solidFill>
                <a:latin typeface="Aptos"/>
              </a:rPr>
              <a:t>Nota: o campo de atuação também prevê a possibilidade de estado “bloqueada”.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8961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24D5D2"/>
                </a:solidFill>
                <a:latin typeface="Aptos"/>
              </a:rPr>
              <a:t>07 · ÂMBITO DO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46888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1">
                <a:solidFill>
                  <a:srgbClr val="ABBAD3"/>
                </a:solidFill>
                <a:latin typeface="Aptos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1792"/>
            <a:ext cx="10972800" cy="22860"/>
          </a:xfrm>
          <a:prstGeom prst="rect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3000" b="1">
                <a:solidFill>
                  <a:srgbClr val="F6F9FF"/>
                </a:solidFill>
                <a:latin typeface="Aptos Display"/>
              </a:rPr>
              <a:t>Começar simples. Entregar valor.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515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ABBAD3"/>
                </a:solidFill>
                <a:latin typeface="Aptos"/>
              </a:rPr>
              <a:t>A primeira versão concentra-se nas funcionalidades essenciais.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5212080" cy="3246120"/>
          </a:xfrm>
          <a:prstGeom prst="roundRect">
            <a:avLst/>
          </a:prstGeom>
          <a:solidFill>
            <a:srgbClr val="1A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450592"/>
            <a:ext cx="21945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1">
                <a:solidFill>
                  <a:srgbClr val="49DCA0"/>
                </a:solidFill>
                <a:latin typeface="Aptos"/>
              </a:rPr>
              <a:t>INCLUÍDO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71800"/>
            <a:ext cx="4572000" cy="20574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49DCA0"/>
                </a:solidFill>
                <a:latin typeface="Aptos Display"/>
              </a:rPr>
              <a:t>✓  </a:t>
            </a:r>
            <a:r>
              <a:rPr sz="1400">
                <a:solidFill>
                  <a:srgbClr val="F6F9FF"/>
                </a:solidFill>
                <a:latin typeface="Aptos"/>
              </a:rPr>
              <a:t>Criar, consultar, editar e eliminar projetos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49DCA0"/>
                </a:solidFill>
                <a:latin typeface="Aptos Display"/>
              </a:rPr>
              <a:t>✓  </a:t>
            </a:r>
            <a:r>
              <a:rPr sz="1400">
                <a:solidFill>
                  <a:srgbClr val="F6F9FF"/>
                </a:solidFill>
                <a:latin typeface="Aptos"/>
              </a:rPr>
              <a:t>Gerir tarefas associadas aos projetos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49DCA0"/>
                </a:solidFill>
                <a:latin typeface="Aptos Display"/>
              </a:rPr>
              <a:t>✓  </a:t>
            </a:r>
            <a:r>
              <a:rPr sz="1400">
                <a:solidFill>
                  <a:srgbClr val="F6F9FF"/>
                </a:solidFill>
                <a:latin typeface="Aptos"/>
              </a:rPr>
              <a:t>Filtrar por estado e prioridade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49DCA0"/>
                </a:solidFill>
                <a:latin typeface="Aptos Display"/>
              </a:rPr>
              <a:t>✓  </a:t>
            </a:r>
            <a:r>
              <a:rPr sz="1400">
                <a:solidFill>
                  <a:srgbClr val="F6F9FF"/>
                </a:solidFill>
                <a:latin typeface="Aptos"/>
              </a:rPr>
              <a:t>Ver métricas simples de progresso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49DCA0"/>
                </a:solidFill>
                <a:latin typeface="Aptos Display"/>
              </a:rPr>
              <a:t>✓  </a:t>
            </a:r>
            <a:r>
              <a:rPr sz="1400">
                <a:solidFill>
                  <a:srgbClr val="F6F9FF"/>
                </a:solidFill>
                <a:latin typeface="Aptos"/>
              </a:rPr>
              <a:t>Autenticação e persistência de dados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48840"/>
            <a:ext cx="5212080" cy="3246120"/>
          </a:xfrm>
          <a:prstGeom prst="roundRect">
            <a:avLst/>
          </a:prstGeom>
          <a:solidFill>
            <a:srgbClr val="1A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450592"/>
            <a:ext cx="29260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1">
                <a:solidFill>
                  <a:srgbClr val="FFB14A"/>
                </a:solidFill>
                <a:latin typeface="Aptos"/>
              </a:rPr>
              <a:t>FORA DO ÂMBITO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17520"/>
            <a:ext cx="4480560" cy="19659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FFB14A"/>
                </a:solidFill>
                <a:latin typeface="Aptos Display"/>
              </a:rPr>
              <a:t>—  </a:t>
            </a:r>
            <a:r>
              <a:rPr sz="1400">
                <a:solidFill>
                  <a:srgbClr val="F6F9FF"/>
                </a:solidFill>
                <a:latin typeface="Aptos"/>
              </a:rPr>
              <a:t>Gestão financeira ou de recursos humanos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FB14A"/>
                </a:solidFill>
                <a:latin typeface="Aptos Display"/>
              </a:rPr>
              <a:t>—  </a:t>
            </a:r>
            <a:r>
              <a:rPr sz="1400">
                <a:solidFill>
                  <a:srgbClr val="F6F9FF"/>
                </a:solidFill>
                <a:latin typeface="Aptos"/>
              </a:rPr>
              <a:t>Construção, logística ou operações industriais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FB14A"/>
                </a:solidFill>
                <a:latin typeface="Aptos Display"/>
              </a:rPr>
              <a:t>—  </a:t>
            </a:r>
            <a:r>
              <a:rPr sz="1400">
                <a:solidFill>
                  <a:srgbClr val="F6F9FF"/>
                </a:solidFill>
                <a:latin typeface="Aptos"/>
              </a:rPr>
              <a:t>Chat ou videoconferência em tempo real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FB14A"/>
                </a:solidFill>
                <a:latin typeface="Aptos Display"/>
              </a:rPr>
              <a:t>—  </a:t>
            </a:r>
            <a:r>
              <a:rPr sz="1400">
                <a:solidFill>
                  <a:srgbClr val="F6F9FF"/>
                </a:solidFill>
                <a:latin typeface="Aptos"/>
              </a:rPr>
              <a:t>Avaliação formal de docentes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8961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24D5D2"/>
                </a:solidFill>
                <a:latin typeface="Aptos"/>
              </a:rPr>
              <a:t>08 · 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46888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1">
                <a:solidFill>
                  <a:srgbClr val="ABBAD3"/>
                </a:solidFill>
                <a:latin typeface="Aptos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1792"/>
            <a:ext cx="10972800" cy="22860"/>
          </a:xfrm>
          <a:prstGeom prst="rect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3000" b="1">
                <a:solidFill>
                  <a:srgbClr val="F6F9FF"/>
                </a:solidFill>
                <a:latin typeface="Aptos Display"/>
              </a:rPr>
              <a:t>Três componentes. Um fluxo de dados.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515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ABBAD3"/>
                </a:solidFill>
                <a:latin typeface="Aptos"/>
              </a:rPr>
              <a:t>Separação de responsabilidades para facilitar manutenção e evolução.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468880"/>
            <a:ext cx="2834640" cy="1828800"/>
          </a:xfrm>
          <a:prstGeom prst="roundRect">
            <a:avLst/>
          </a:prstGeom>
          <a:solidFill>
            <a:srgbClr val="1A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51560" y="2651760"/>
            <a:ext cx="438912" cy="438912"/>
          </a:xfrm>
          <a:prstGeom prst="ellipse">
            <a:avLst/>
          </a:prstGeom>
          <a:solidFill>
            <a:srgbClr val="3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660903"/>
            <a:ext cx="438912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1">
                <a:solidFill>
                  <a:srgbClr val="F6F9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633472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>
                <a:solidFill>
                  <a:srgbClr val="F6F9FF"/>
                </a:solidFill>
                <a:latin typeface="Aptos"/>
              </a:rPr>
              <a:t>Nuxt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233172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500" b="0">
                <a:solidFill>
                  <a:srgbClr val="ABBAD3"/>
                </a:solidFill>
                <a:latin typeface="Aptos"/>
              </a:rPr>
              <a:t>Interface web</a:t>
            </a:r>
          </a:p>
          <a:p>
            <a:pPr algn="ctr">
              <a:spcAft>
                <a:spcPts val="700"/>
              </a:spcAft>
            </a:pPr>
            <a:r>
              <a:rPr sz="1500" b="0">
                <a:solidFill>
                  <a:srgbClr val="ABBAD3"/>
                </a:solidFill>
                <a:latin typeface="Aptos"/>
              </a:rPr>
              <a:t>Formulários e vistas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468880"/>
            <a:ext cx="2834640" cy="1828800"/>
          </a:xfrm>
          <a:prstGeom prst="roundRect">
            <a:avLst/>
          </a:prstGeom>
          <a:solidFill>
            <a:srgbClr val="1A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17720" y="2651760"/>
            <a:ext cx="438912" cy="438912"/>
          </a:xfrm>
          <a:prstGeom prst="ellipse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2660903"/>
            <a:ext cx="438912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1">
                <a:solidFill>
                  <a:srgbClr val="F6F9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2633472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>
                <a:solidFill>
                  <a:srgbClr val="F6F9FF"/>
                </a:solidFill>
                <a:latin typeface="Aptos"/>
              </a:rPr>
              <a:t>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246120"/>
            <a:ext cx="233172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500" b="0">
                <a:solidFill>
                  <a:srgbClr val="ABBAD3"/>
                </a:solidFill>
                <a:latin typeface="Aptos"/>
              </a:rPr>
              <a:t>API REST</a:t>
            </a:r>
          </a:p>
          <a:p>
            <a:pPr algn="ctr">
              <a:spcAft>
                <a:spcPts val="700"/>
              </a:spcAft>
            </a:pPr>
            <a:r>
              <a:rPr sz="1500" b="0">
                <a:solidFill>
                  <a:srgbClr val="ABBAD3"/>
                </a:solidFill>
                <a:latin typeface="Aptos"/>
              </a:rPr>
              <a:t>Validação e regras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2468880"/>
            <a:ext cx="2834640" cy="1828800"/>
          </a:xfrm>
          <a:prstGeom prst="roundRect">
            <a:avLst/>
          </a:prstGeom>
          <a:solidFill>
            <a:srgbClr val="1A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83879" y="2651760"/>
            <a:ext cx="438912" cy="438912"/>
          </a:xfrm>
          <a:prstGeom prst="ellipse">
            <a:avLst/>
          </a:prstGeom>
          <a:solidFill>
            <a:srgbClr val="49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79" y="2660903"/>
            <a:ext cx="438912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1">
                <a:solidFill>
                  <a:srgbClr val="F6F9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633472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>
                <a:solidFill>
                  <a:srgbClr val="F6F9FF"/>
                </a:solidFill>
                <a:latin typeface="Aptos"/>
              </a:rPr>
              <a:t>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246120"/>
            <a:ext cx="233172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500" b="0">
                <a:solidFill>
                  <a:srgbClr val="ABBAD3"/>
                </a:solidFill>
                <a:latin typeface="Aptos"/>
              </a:rPr>
              <a:t>Base de dados</a:t>
            </a:r>
          </a:p>
          <a:p>
            <a:pPr algn="ctr">
              <a:spcAft>
                <a:spcPts val="700"/>
              </a:spcAft>
            </a:pPr>
            <a:r>
              <a:rPr sz="1500" b="0">
                <a:solidFill>
                  <a:srgbClr val="ABBAD3"/>
                </a:solidFill>
                <a:latin typeface="Aptos"/>
              </a:rPr>
              <a:t>Persistência</a:t>
            </a:r>
          </a:p>
        </p:txBody>
      </p:sp>
      <p:sp>
        <p:nvSpPr>
          <p:cNvPr id="22" name="Chevron 21"/>
          <p:cNvSpPr/>
          <p:nvPr/>
        </p:nvSpPr>
        <p:spPr>
          <a:xfrm>
            <a:off x="3822191" y="3063240"/>
            <a:ext cx="457200" cy="502920"/>
          </a:xfrm>
          <a:prstGeom prst="chevron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hevron 22"/>
          <p:cNvSpPr/>
          <p:nvPr/>
        </p:nvSpPr>
        <p:spPr>
          <a:xfrm>
            <a:off x="7388352" y="3063240"/>
            <a:ext cx="457200" cy="502920"/>
          </a:xfrm>
          <a:prstGeom prst="chevron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80360" y="4480560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100" b="0">
                <a:solidFill>
                  <a:srgbClr val="ABBAD3"/>
                </a:solidFill>
                <a:latin typeface="Aptos"/>
              </a:rPr>
              <a:t>Pedido HTTP/JSON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480560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100" b="0">
                <a:solidFill>
                  <a:srgbClr val="ABBAD3"/>
                </a:solidFill>
                <a:latin typeface="Aptos"/>
              </a:rPr>
              <a:t>SQL / resultados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08760" y="5212080"/>
            <a:ext cx="9144000" cy="566928"/>
          </a:xfrm>
          <a:prstGeom prst="roundRect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37360" y="5376672"/>
            <a:ext cx="8686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500" b="1">
                <a:solidFill>
                  <a:srgbClr val="24D5D2"/>
                </a:solidFill>
                <a:latin typeface="Aptos"/>
              </a:rPr>
              <a:t>Nuxt apresenta  →  FastAPI processa  →  PostgreSQL guarda os dados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8961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24D5D2"/>
                </a:solidFill>
                <a:latin typeface="Aptos"/>
              </a:rPr>
              <a:t>09 · VALIDAÇÃO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46888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1">
                <a:solidFill>
                  <a:srgbClr val="ABBAD3"/>
                </a:solidFill>
                <a:latin typeface="Aptos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1792"/>
            <a:ext cx="10972800" cy="22860"/>
          </a:xfrm>
          <a:prstGeom prst="rect">
            <a:avLst/>
          </a:prstGeom>
          <a:solidFill>
            <a:srgbClr val="1F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3000" b="1">
                <a:solidFill>
                  <a:srgbClr val="F6F9FF"/>
                </a:solidFill>
                <a:latin typeface="Aptos Display"/>
              </a:rPr>
              <a:t>Como saber se o TaskFlow funciona?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515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ABBAD3"/>
                </a:solidFill>
                <a:latin typeface="Aptos"/>
              </a:rPr>
              <a:t>Critérios objetivos para validar a primeira versão.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5074920" cy="1234440"/>
          </a:xfrm>
          <a:prstGeom prst="roundRect">
            <a:avLst/>
          </a:prstGeom>
          <a:solidFill>
            <a:srgbClr val="1A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73152" cy="1234440"/>
          </a:xfrm>
          <a:prstGeom prst="rect">
            <a:avLst/>
          </a:prstGeom>
          <a:solidFill>
            <a:srgbClr val="3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2404872"/>
            <a:ext cx="4709159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Usabilidade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880360"/>
            <a:ext cx="4690872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ABBAD3"/>
                </a:solidFill>
                <a:latin typeface="Aptos"/>
              </a:rPr>
              <a:t>Navegação e formulários compreensíveis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240280"/>
            <a:ext cx="5074920" cy="1234440"/>
          </a:xfrm>
          <a:prstGeom prst="roundRect">
            <a:avLst/>
          </a:prstGeom>
          <a:solidFill>
            <a:srgbClr val="1A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2240280"/>
            <a:ext cx="73152" cy="1234440"/>
          </a:xfrm>
          <a:prstGeom prst="rect">
            <a:avLst/>
          </a:prstGeom>
          <a:solidFill>
            <a:srgbClr val="49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2404872"/>
            <a:ext cx="4709159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Persistência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880360"/>
            <a:ext cx="4690872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ABBAD3"/>
                </a:solidFill>
                <a:latin typeface="Aptos"/>
              </a:rPr>
              <a:t>Dados mantêm-se após reiniciar a aplicação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40480"/>
            <a:ext cx="5074920" cy="1234440"/>
          </a:xfrm>
          <a:prstGeom prst="roundRect">
            <a:avLst/>
          </a:prstGeom>
          <a:solidFill>
            <a:srgbClr val="1A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3840480"/>
            <a:ext cx="73152" cy="1234440"/>
          </a:xfrm>
          <a:prstGeom prst="rect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8" y="4005072"/>
            <a:ext cx="4709159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Comunicação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480560"/>
            <a:ext cx="4690872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ABBAD3"/>
                </a:solidFill>
                <a:latin typeface="Aptos"/>
              </a:rPr>
              <a:t>Pedidos entre Nuxt e API sem erros críticos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840480"/>
            <a:ext cx="5074920" cy="1234440"/>
          </a:xfrm>
          <a:prstGeom prst="roundRect">
            <a:avLst/>
          </a:prstGeom>
          <a:solidFill>
            <a:srgbClr val="1A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3840480"/>
            <a:ext cx="73152" cy="123444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64807" y="4005072"/>
            <a:ext cx="4709159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Desempenho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4480560"/>
            <a:ext cx="4690872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ABBAD3"/>
                </a:solidFill>
                <a:latin typeface="Aptos"/>
              </a:rPr>
              <a:t>Objetivo de resposta da interface inferior a 200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532120"/>
            <a:ext cx="10515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ABBAD3"/>
                </a:solidFill>
                <a:latin typeface="Aptos"/>
              </a:rPr>
              <a:t>Os valores são metas de validação propostas e devem ser medidos em testes.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95360" y="3566160"/>
            <a:ext cx="4114800" cy="4114800"/>
          </a:xfrm>
          <a:prstGeom prst="ellipse">
            <a:avLst/>
          </a:prstGeom>
          <a:solidFill>
            <a:srgbClr val="14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4251960"/>
            <a:ext cx="2560320" cy="2560320"/>
          </a:xfrm>
          <a:prstGeom prst="ellipse">
            <a:avLst/>
          </a:prstGeom>
          <a:solidFill>
            <a:srgbClr val="3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921240" y="4846320"/>
            <a:ext cx="1371600" cy="1371600"/>
          </a:xfrm>
          <a:prstGeom prst="ellipse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2743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24D5D2"/>
                </a:solidFill>
                <a:latin typeface="Aptos"/>
              </a:rPr>
              <a:t>TASKFLOW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7589520" cy="2286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3600" b="1">
                <a:solidFill>
                  <a:srgbClr val="F6F9FF"/>
                </a:solidFill>
                <a:latin typeface="Aptos Display"/>
              </a:rPr>
              <a:t>Menos dispersão.</a:t>
            </a:r>
          </a:p>
          <a:p>
            <a:pPr algn="l">
              <a:spcAft>
                <a:spcPts val="700"/>
              </a:spcAft>
            </a:pPr>
            <a:r>
              <a:rPr sz="3600" b="1">
                <a:solidFill>
                  <a:srgbClr val="F6F9FF"/>
                </a:solidFill>
                <a:latin typeface="Aptos Display"/>
              </a:rPr>
              <a:t>Mais clareza.</a:t>
            </a:r>
          </a:p>
          <a:p>
            <a:pPr algn="l">
              <a:spcAft>
                <a:spcPts val="700"/>
              </a:spcAft>
            </a:pPr>
            <a:r>
              <a:rPr sz="3600" b="1">
                <a:solidFill>
                  <a:srgbClr val="F6F9FF"/>
                </a:solidFill>
                <a:latin typeface="Aptos Display"/>
              </a:rPr>
              <a:t>Melhor colaboração.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297680"/>
            <a:ext cx="713232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0">
                <a:solidFill>
                  <a:srgbClr val="ABBAD3"/>
                </a:solidFill>
                <a:latin typeface="Aptos"/>
              </a:rPr>
              <a:t>Uma plataforma para transformar tarefas em progresso visível.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15000"/>
            <a:ext cx="2926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24D5D2"/>
                </a:solidFill>
                <a:latin typeface="Aptos"/>
              </a:rPr>
              <a:t>Obrigado/a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631</Words>
  <Application>Microsoft Office PowerPoint</Application>
  <PresentationFormat>Ecrã Panorâmico</PresentationFormat>
  <Paragraphs>147</Paragraphs>
  <Slides>11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samuel neves</cp:lastModifiedBy>
  <cp:revision>2</cp:revision>
  <dcterms:created xsi:type="dcterms:W3CDTF">2013-01-27T09:14:16Z</dcterms:created>
  <dcterms:modified xsi:type="dcterms:W3CDTF">2026-10-22T15:02:14Z</dcterms:modified>
  <cp:category/>
</cp:coreProperties>
</file>